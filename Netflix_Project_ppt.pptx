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Bold" charset="1" panose="00000800000000000000"/>
      <p:regular r:id="rId13"/>
    </p:embeddedFont>
    <p:embeddedFont>
      <p:font typeface="Poppins" charset="1" panose="00000500000000000000"/>
      <p:regular r:id="rId14"/>
    </p:embeddedFont>
    <p:embeddedFont>
      <p:font typeface="Canva Sans Bold" charset="1" panose="020B0803030501040103"/>
      <p:regular r:id="rId15"/>
    </p:embeddedFont>
    <p:embeddedFont>
      <p:font typeface="Bricolage Grotesque" charset="1" panose="020B0605040402000204"/>
      <p:regular r:id="rId16"/>
    </p:embeddedFont>
    <p:embeddedFont>
      <p:font typeface="Bricolage Grotesque Bold" charset="1" panose="020B060504040200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102839" y="1172167"/>
            <a:ext cx="1723707" cy="7673558"/>
            <a:chOff x="0" y="0"/>
            <a:chExt cx="2298277" cy="10231411"/>
          </a:xfrm>
        </p:grpSpPr>
        <p:sp>
          <p:nvSpPr>
            <p:cNvPr name="Freeform 6" id="6"/>
            <p:cNvSpPr/>
            <p:nvPr/>
          </p:nvSpPr>
          <p:spPr>
            <a:xfrm flipH="false" flipV="false" rot="0">
              <a:off x="651979" y="0"/>
              <a:ext cx="981294" cy="947395"/>
            </a:xfrm>
            <a:custGeom>
              <a:avLst/>
              <a:gdLst/>
              <a:ahLst/>
              <a:cxnLst/>
              <a:rect r="r" b="b" t="t" l="l"/>
              <a:pathLst>
                <a:path h="947395" w="981294">
                  <a:moveTo>
                    <a:pt x="0" y="0"/>
                  </a:moveTo>
                  <a:lnTo>
                    <a:pt x="981294" y="0"/>
                  </a:lnTo>
                  <a:lnTo>
                    <a:pt x="981294" y="947395"/>
                  </a:lnTo>
                  <a:lnTo>
                    <a:pt x="0" y="947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0" y="1253510"/>
              <a:ext cx="2272228" cy="299834"/>
            </a:xfrm>
            <a:prstGeom prst="rect">
              <a:avLst/>
            </a:prstGeom>
          </p:spPr>
          <p:txBody>
            <a:bodyPr anchor="t" rtlCol="false" tIns="0" lIns="0" bIns="0" rIns="0">
              <a:spAutoFit/>
            </a:bodyPr>
            <a:lstStyle/>
            <a:p>
              <a:pPr algn="ctr" marL="0" indent="0" lvl="0">
                <a:lnSpc>
                  <a:spcPts val="1610"/>
                </a:lnSpc>
              </a:pPr>
              <a:r>
                <a:rPr lang="en-US" b="true" sz="1505">
                  <a:solidFill>
                    <a:srgbClr val="FFFFFF"/>
                  </a:solidFill>
                  <a:latin typeface="Poppins Bold"/>
                  <a:ea typeface="Poppins Bold"/>
                  <a:cs typeface="Poppins Bold"/>
                  <a:sym typeface="Poppins Bold"/>
                </a:rPr>
                <a:t>Netflix</a:t>
              </a:r>
            </a:p>
          </p:txBody>
        </p:sp>
        <p:sp>
          <p:nvSpPr>
            <p:cNvPr name="TextBox 8" id="8"/>
            <p:cNvSpPr txBox="true"/>
            <p:nvPr/>
          </p:nvSpPr>
          <p:spPr>
            <a:xfrm rot="0">
              <a:off x="13024" y="1553343"/>
              <a:ext cx="2272228" cy="566534"/>
            </a:xfrm>
            <a:prstGeom prst="rect">
              <a:avLst/>
            </a:prstGeom>
          </p:spPr>
          <p:txBody>
            <a:bodyPr anchor="t" rtlCol="false" tIns="0" lIns="0" bIns="0" rIns="0">
              <a:spAutoFit/>
            </a:bodyPr>
            <a:lstStyle/>
            <a:p>
              <a:pPr algn="ctr" marL="0" indent="0" lvl="0">
                <a:lnSpc>
                  <a:spcPts val="1610"/>
                </a:lnSpc>
              </a:pPr>
              <a:r>
                <a:rPr lang="en-US" sz="1505">
                  <a:solidFill>
                    <a:srgbClr val="FFFFFF"/>
                  </a:solidFill>
                  <a:latin typeface="Poppins"/>
                  <a:ea typeface="Poppins"/>
                  <a:cs typeface="Poppins"/>
                  <a:sym typeface="Poppins"/>
                </a:rPr>
                <a:t>Catalog Intelligence</a:t>
              </a:r>
            </a:p>
          </p:txBody>
        </p:sp>
        <p:sp>
          <p:nvSpPr>
            <p:cNvPr name="TextBox 9" id="9"/>
            <p:cNvSpPr txBox="true"/>
            <p:nvPr/>
          </p:nvSpPr>
          <p:spPr>
            <a:xfrm rot="0">
              <a:off x="13024" y="9631744"/>
              <a:ext cx="2272228" cy="299834"/>
            </a:xfrm>
            <a:prstGeom prst="rect">
              <a:avLst/>
            </a:prstGeom>
          </p:spPr>
          <p:txBody>
            <a:bodyPr anchor="t" rtlCol="false" tIns="0" lIns="0" bIns="0" rIns="0">
              <a:spAutoFit/>
            </a:bodyPr>
            <a:lstStyle/>
            <a:p>
              <a:pPr algn="ctr" marL="0" indent="0" lvl="0">
                <a:lnSpc>
                  <a:spcPts val="1610"/>
                </a:lnSpc>
              </a:pPr>
              <a:r>
                <a:rPr lang="en-US" b="true" sz="1505">
                  <a:solidFill>
                    <a:srgbClr val="FFFFFF"/>
                  </a:solidFill>
                  <a:latin typeface="Poppins Bold"/>
                  <a:ea typeface="Poppins Bold"/>
                  <a:cs typeface="Poppins Bold"/>
                  <a:sym typeface="Poppins Bold"/>
                </a:rPr>
                <a:t>2026</a:t>
              </a:r>
            </a:p>
          </p:txBody>
        </p:sp>
        <p:sp>
          <p:nvSpPr>
            <p:cNvPr name="TextBox 10" id="10"/>
            <p:cNvSpPr txBox="true"/>
            <p:nvPr/>
          </p:nvSpPr>
          <p:spPr>
            <a:xfrm rot="0">
              <a:off x="26049" y="9931577"/>
              <a:ext cx="2272228" cy="299834"/>
            </a:xfrm>
            <a:prstGeom prst="rect">
              <a:avLst/>
            </a:prstGeom>
          </p:spPr>
          <p:txBody>
            <a:bodyPr anchor="t" rtlCol="false" tIns="0" lIns="0" bIns="0" rIns="0">
              <a:spAutoFit/>
            </a:bodyPr>
            <a:lstStyle/>
            <a:p>
              <a:pPr algn="ctr" marL="0" indent="0" lvl="0">
                <a:lnSpc>
                  <a:spcPts val="1610"/>
                </a:lnSpc>
              </a:pPr>
              <a:r>
                <a:rPr lang="en-US" sz="1505">
                  <a:solidFill>
                    <a:srgbClr val="FFFFFF"/>
                  </a:solidFill>
                  <a:latin typeface="Poppins"/>
                  <a:ea typeface="Poppins"/>
                  <a:cs typeface="Poppins"/>
                  <a:sym typeface="Poppins"/>
                </a:rPr>
                <a:t>Analysis</a:t>
              </a:r>
            </a:p>
          </p:txBody>
        </p:sp>
      </p:grpSp>
      <p:sp>
        <p:nvSpPr>
          <p:cNvPr name="Freeform 11" id="11"/>
          <p:cNvSpPr/>
          <p:nvPr/>
        </p:nvSpPr>
        <p:spPr>
          <a:xfrm flipH="false" flipV="false" rot="0">
            <a:off x="1028700" y="7308293"/>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28700" y="7988737"/>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28700" y="8673002"/>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8986465" y="0"/>
            <a:ext cx="4378150" cy="10287000"/>
            <a:chOff x="0" y="0"/>
            <a:chExt cx="678290" cy="1593725"/>
          </a:xfrm>
        </p:grpSpPr>
        <p:sp>
          <p:nvSpPr>
            <p:cNvPr name="Freeform 15" id="15"/>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10"/>
              <a:stretch>
                <a:fillRect l="0" t="-218" r="0" b="-218"/>
              </a:stretch>
            </a:blipFill>
          </p:spPr>
        </p:sp>
      </p:grpSp>
      <p:sp>
        <p:nvSpPr>
          <p:cNvPr name="AutoShape 16" id="16"/>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7" id="17"/>
          <p:cNvSpPr txBox="true"/>
          <p:nvPr/>
        </p:nvSpPr>
        <p:spPr>
          <a:xfrm rot="0">
            <a:off x="14650619" y="5707470"/>
            <a:ext cx="2628148" cy="1252075"/>
          </a:xfrm>
          <a:prstGeom prst="rect">
            <a:avLst/>
          </a:prstGeom>
        </p:spPr>
        <p:txBody>
          <a:bodyPr anchor="t" rtlCol="false" tIns="0" lIns="0" bIns="0" rIns="0">
            <a:spAutoFit/>
          </a:bodyPr>
          <a:lstStyle/>
          <a:p>
            <a:pPr algn="just" marL="0" indent="0" lvl="0">
              <a:lnSpc>
                <a:spcPts val="1680"/>
              </a:lnSpc>
            </a:pPr>
            <a:r>
              <a:rPr lang="en-US" sz="1200" spc="-3">
                <a:solidFill>
                  <a:srgbClr val="FFFFFF"/>
                </a:solidFill>
                <a:latin typeface="Poppins"/>
                <a:ea typeface="Poppins"/>
                <a:cs typeface="Poppins"/>
                <a:sym typeface="Poppins"/>
              </a:rPr>
              <a:t>Future Scope: Integration of real-time user behavior data, expanded genre classification, and deployment of predictive models for content recommendation optimization.</a:t>
            </a:r>
          </a:p>
        </p:txBody>
      </p:sp>
      <p:sp>
        <p:nvSpPr>
          <p:cNvPr name="TextBox 18" id="18"/>
          <p:cNvSpPr txBox="true"/>
          <p:nvPr/>
        </p:nvSpPr>
        <p:spPr>
          <a:xfrm rot="0">
            <a:off x="1638585" y="7334015"/>
            <a:ext cx="2891575" cy="274382"/>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9324167197</a:t>
            </a:r>
          </a:p>
        </p:txBody>
      </p:sp>
      <p:sp>
        <p:nvSpPr>
          <p:cNvPr name="TextBox 19" id="19"/>
          <p:cNvSpPr txBox="true"/>
          <p:nvPr/>
        </p:nvSpPr>
        <p:spPr>
          <a:xfrm rot="0">
            <a:off x="1638585" y="8001598"/>
            <a:ext cx="5248389" cy="274382"/>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singhharshu178@gmail.com</a:t>
            </a:r>
          </a:p>
        </p:txBody>
      </p:sp>
      <p:sp>
        <p:nvSpPr>
          <p:cNvPr name="TextBox 20" id="20"/>
          <p:cNvSpPr txBox="true"/>
          <p:nvPr/>
        </p:nvSpPr>
        <p:spPr>
          <a:xfrm rot="0">
            <a:off x="1638585" y="8698724"/>
            <a:ext cx="4805157" cy="534774"/>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https://github.com/harshsingh-commits/netflix-ml-analytics</a:t>
            </a:r>
          </a:p>
        </p:txBody>
      </p:sp>
      <p:sp>
        <p:nvSpPr>
          <p:cNvPr name="TextBox 21" id="21"/>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22" id="22"/>
          <p:cNvSpPr txBox="true"/>
          <p:nvPr/>
        </p:nvSpPr>
        <p:spPr>
          <a:xfrm rot="0">
            <a:off x="1028700" y="2287592"/>
            <a:ext cx="6671890" cy="2745930"/>
          </a:xfrm>
          <a:prstGeom prst="rect">
            <a:avLst/>
          </a:prstGeom>
        </p:spPr>
        <p:txBody>
          <a:bodyPr anchor="t" rtlCol="false" tIns="0" lIns="0" bIns="0" rIns="0">
            <a:spAutoFit/>
          </a:bodyPr>
          <a:lstStyle/>
          <a:p>
            <a:pPr algn="just" marL="0" indent="0" lvl="0">
              <a:lnSpc>
                <a:spcPts val="7111"/>
              </a:lnSpc>
            </a:pPr>
            <a:r>
              <a:rPr lang="en-US" sz="7256" spc="-46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 Insights &amp;</a:t>
            </a:r>
          </a:p>
          <a:p>
            <a:pPr algn="just" marL="0" indent="0" lvl="0">
              <a:lnSpc>
                <a:spcPts val="7111"/>
              </a:lnSpc>
            </a:pPr>
            <a:r>
              <a:rPr lang="en-US" sz="7256" spc="-46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Future Scope</a:t>
            </a:r>
          </a:p>
          <a:p>
            <a:pPr algn="just" marL="0" indent="0" lvl="0">
              <a:lnSpc>
                <a:spcPts val="7111"/>
              </a:lnSpc>
            </a:pPr>
            <a:r>
              <a:rPr lang="en-US" sz="7256" spc="-46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for Netflix Catalog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358088"/>
            <a:ext cx="5445624" cy="2370056"/>
            <a:chOff x="0" y="0"/>
            <a:chExt cx="7260833" cy="3160074"/>
          </a:xfrm>
        </p:grpSpPr>
        <p:sp>
          <p:nvSpPr>
            <p:cNvPr name="TextBox 3" id="3"/>
            <p:cNvSpPr txBox="true"/>
            <p:nvPr/>
          </p:nvSpPr>
          <p:spPr>
            <a:xfrm rot="0">
              <a:off x="304088" y="356798"/>
              <a:ext cx="6956745" cy="2803277"/>
            </a:xfrm>
            <a:prstGeom prst="rect">
              <a:avLst/>
            </a:prstGeom>
          </p:spPr>
          <p:txBody>
            <a:bodyPr anchor="t" rtlCol="false" tIns="0" lIns="0" bIns="0" rIns="0">
              <a:spAutoFit/>
            </a:bodyPr>
            <a:lstStyle/>
            <a:p>
              <a:pPr algn="l" marL="0" indent="0" lvl="0">
                <a:lnSpc>
                  <a:spcPts val="7937"/>
                </a:lnSpc>
              </a:pPr>
              <a:r>
                <a:rPr lang="en-US" sz="8099" spc="-51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Dataset Overview</a:t>
              </a:r>
            </a:p>
          </p:txBody>
        </p:sp>
        <p:grpSp>
          <p:nvGrpSpPr>
            <p:cNvPr name="Group 4" id="4"/>
            <p:cNvGrpSpPr/>
            <p:nvPr/>
          </p:nvGrpSpPr>
          <p:grpSpPr>
            <a:xfrm rot="0">
              <a:off x="0" y="0"/>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grpSp>
        <p:nvGrpSpPr>
          <p:cNvPr name="Group 7" id="7"/>
          <p:cNvGrpSpPr/>
          <p:nvPr/>
        </p:nvGrpSpPr>
        <p:grpSpPr>
          <a:xfrm rot="0">
            <a:off x="1028700" y="4312874"/>
            <a:ext cx="8201025" cy="379246"/>
            <a:chOff x="0" y="0"/>
            <a:chExt cx="10934700" cy="505662"/>
          </a:xfrm>
        </p:grpSpPr>
        <p:sp>
          <p:nvSpPr>
            <p:cNvPr name="TextBox 8" id="8"/>
            <p:cNvSpPr txBox="true"/>
            <p:nvPr/>
          </p:nvSpPr>
          <p:spPr>
            <a:xfrm rot="0">
              <a:off x="0" y="57666"/>
              <a:ext cx="10820400" cy="447996"/>
            </a:xfrm>
            <a:prstGeom prst="rect">
              <a:avLst/>
            </a:prstGeom>
          </p:spPr>
          <p:txBody>
            <a:bodyPr anchor="t" rtlCol="false" tIns="0" lIns="0" bIns="0" rIns="0">
              <a:spAutoFit/>
            </a:bodyPr>
            <a:lstStyle/>
            <a:p>
              <a:pPr algn="l" marL="0" indent="0" lvl="0">
                <a:lnSpc>
                  <a:spcPts val="2742"/>
                </a:lnSpc>
              </a:pPr>
              <a:r>
                <a:rPr lang="en-US" b="true" sz="1959" spc="-4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SCOPE, COVERAGE, AND STRUCTURE OF THE NETFLIX CATALOG DATA</a:t>
              </a:r>
            </a:p>
          </p:txBody>
        </p:sp>
        <p:sp>
          <p:nvSpPr>
            <p:cNvPr name="Freeform 9" id="9"/>
            <p:cNvSpPr/>
            <p:nvPr/>
          </p:nvSpPr>
          <p:spPr>
            <a:xfrm flipH="false" flipV="false" rot="-8687136">
              <a:off x="106176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1028700" y="6990331"/>
            <a:ext cx="8201025" cy="2267969"/>
          </a:xfrm>
          <a:prstGeom prst="rect">
            <a:avLst/>
          </a:prstGeom>
        </p:spPr>
        <p:txBody>
          <a:bodyPr anchor="t" rtlCol="false" tIns="0" lIns="0" bIns="0" rIns="0">
            <a:spAutoFit/>
          </a:bodyPr>
          <a:lstStyle/>
          <a:p>
            <a:pPr algn="just" marL="0" indent="0" lvl="0">
              <a:lnSpc>
                <a:spcPts val="2568"/>
              </a:lnSpc>
            </a:pPr>
            <a:r>
              <a:rPr lang="en-US" sz="1834" spc="-5">
                <a:solidFill>
                  <a:srgbClr val="3A58E4"/>
                </a:solidFill>
                <a:latin typeface="Poppins"/>
                <a:ea typeface="Poppins"/>
                <a:cs typeface="Poppins"/>
                <a:sym typeface="Poppins"/>
              </a:rPr>
              <a:t>The Netflix dataset provides comprehensive catalog information including title metadata, content categories, release years, and regional availability. Key fields include title name, genre classifications, maturity ratings, duration, cast information, and director details. The dataset covers multiple content types including movies and TV series across various genres, enabling diverse analytical approaches for classification, clustering, and forecasting tasks.</a:t>
            </a:r>
          </a:p>
        </p:txBody>
      </p:sp>
      <p:grpSp>
        <p:nvGrpSpPr>
          <p:cNvPr name="Group 11" id="11"/>
          <p:cNvGrpSpPr/>
          <p:nvPr/>
        </p:nvGrpSpPr>
        <p:grpSpPr>
          <a:xfrm rot="0">
            <a:off x="16438046" y="174650"/>
            <a:ext cx="1849954" cy="1673517"/>
            <a:chOff x="0" y="0"/>
            <a:chExt cx="2466605" cy="2231355"/>
          </a:xfrm>
        </p:grpSpPr>
        <p:grpSp>
          <p:nvGrpSpPr>
            <p:cNvPr name="Group 12" id="12"/>
            <p:cNvGrpSpPr/>
            <p:nvPr/>
          </p:nvGrpSpPr>
          <p:grpSpPr>
            <a:xfrm rot="0">
              <a:off x="0" y="0"/>
              <a:ext cx="2466605" cy="2231355"/>
              <a:chOff x="0" y="0"/>
              <a:chExt cx="787566" cy="712452"/>
            </a:xfrm>
          </p:grpSpPr>
          <p:sp>
            <p:nvSpPr>
              <p:cNvPr name="Freeform 13" id="13"/>
              <p:cNvSpPr/>
              <p:nvPr/>
            </p:nvSpPr>
            <p:spPr>
              <a:xfrm flipH="false" flipV="false" rot="0">
                <a:off x="0" y="0"/>
                <a:ext cx="787566" cy="712452"/>
              </a:xfrm>
              <a:custGeom>
                <a:avLst/>
                <a:gdLst/>
                <a:ahLst/>
                <a:cxnLst/>
                <a:rect r="r" b="b" t="t" l="l"/>
                <a:pathLst>
                  <a:path h="712452" w="787566">
                    <a:moveTo>
                      <a:pt x="0" y="0"/>
                    </a:moveTo>
                    <a:lnTo>
                      <a:pt x="787566" y="0"/>
                    </a:lnTo>
                    <a:lnTo>
                      <a:pt x="787566" y="712452"/>
                    </a:lnTo>
                    <a:lnTo>
                      <a:pt x="0" y="712452"/>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4" id="14"/>
              <p:cNvSpPr txBox="true"/>
              <p:nvPr/>
            </p:nvSpPr>
            <p:spPr>
              <a:xfrm>
                <a:off x="0" y="-38100"/>
                <a:ext cx="787566" cy="7505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319164" y="674999"/>
              <a:ext cx="1828278" cy="986133"/>
            </a:xfrm>
            <a:prstGeom prst="rect">
              <a:avLst/>
            </a:prstGeom>
          </p:spPr>
          <p:txBody>
            <a:bodyPr anchor="t" rtlCol="false" tIns="0" lIns="0" bIns="0" rIns="0">
              <a:spAutoFit/>
            </a:bodyPr>
            <a:lstStyle/>
            <a:p>
              <a:pPr algn="ctr" marL="0" indent="0" lvl="0">
                <a:lnSpc>
                  <a:spcPts val="5311"/>
                </a:lnSpc>
              </a:pPr>
              <a:r>
                <a:rPr lang="en-US" sz="5419" spc="-346">
                  <a:solidFill>
                    <a:srgbClr val="FFFFFF"/>
                  </a:solidFill>
                  <a:latin typeface="Bricolage Grotesque"/>
                  <a:ea typeface="Bricolage Grotesque"/>
                  <a:cs typeface="Bricolage Grotesque"/>
                  <a:sym typeface="Bricolage Grotesque"/>
                </a:rPr>
                <a:t>02</a:t>
              </a:r>
            </a:p>
          </p:txBody>
        </p:sp>
      </p:grpSp>
      <p:sp>
        <p:nvSpPr>
          <p:cNvPr name="Freeform 16" id="16"/>
          <p:cNvSpPr/>
          <p:nvPr/>
        </p:nvSpPr>
        <p:spPr>
          <a:xfrm flipH="false" flipV="false" rot="0">
            <a:off x="9374657" y="2079553"/>
            <a:ext cx="8966280" cy="6967042"/>
          </a:xfrm>
          <a:custGeom>
            <a:avLst/>
            <a:gdLst/>
            <a:ahLst/>
            <a:cxnLst/>
            <a:rect r="r" b="b" t="t" l="l"/>
            <a:pathLst>
              <a:path h="6967042" w="8966280">
                <a:moveTo>
                  <a:pt x="0" y="0"/>
                </a:moveTo>
                <a:lnTo>
                  <a:pt x="8966280" y="0"/>
                </a:lnTo>
                <a:lnTo>
                  <a:pt x="8966280" y="6967041"/>
                </a:lnTo>
                <a:lnTo>
                  <a:pt x="0" y="6967041"/>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1311" y="0"/>
            <a:ext cx="546689" cy="7173190"/>
            <a:chOff x="0" y="0"/>
            <a:chExt cx="143984" cy="1889235"/>
          </a:xfrm>
        </p:grpSpPr>
        <p:sp>
          <p:nvSpPr>
            <p:cNvPr name="Freeform 3" id="3"/>
            <p:cNvSpPr/>
            <p:nvPr/>
          </p:nvSpPr>
          <p:spPr>
            <a:xfrm flipH="false" flipV="false" rot="0">
              <a:off x="0" y="0"/>
              <a:ext cx="143984" cy="1889235"/>
            </a:xfrm>
            <a:custGeom>
              <a:avLst/>
              <a:gdLst/>
              <a:ahLst/>
              <a:cxnLst/>
              <a:rect r="r" b="b" t="t" l="l"/>
              <a:pathLst>
                <a:path h="1889235" w="143984">
                  <a:moveTo>
                    <a:pt x="0" y="0"/>
                  </a:moveTo>
                  <a:lnTo>
                    <a:pt x="143984" y="0"/>
                  </a:lnTo>
                  <a:lnTo>
                    <a:pt x="143984" y="1889235"/>
                  </a:lnTo>
                  <a:lnTo>
                    <a:pt x="0" y="188923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143984" cy="192733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5" id="5"/>
          <p:cNvSpPr/>
          <p:nvPr/>
        </p:nvSpPr>
        <p:spPr>
          <a:xfrm flipH="true">
            <a:off x="4442685" y="0"/>
            <a:ext cx="0" cy="10287000"/>
          </a:xfrm>
          <a:prstGeom prst="line">
            <a:avLst/>
          </a:prstGeom>
          <a:ln cap="rnd" w="19050">
            <a:solidFill>
              <a:srgbClr val="3A58E4"/>
            </a:solidFill>
            <a:prstDash val="solid"/>
            <a:headEnd type="none" len="sm" w="sm"/>
            <a:tailEnd type="none" len="sm" w="sm"/>
          </a:ln>
        </p:spPr>
      </p:sp>
      <p:sp>
        <p:nvSpPr>
          <p:cNvPr name="AutoShape 6" id="6"/>
          <p:cNvSpPr/>
          <p:nvPr/>
        </p:nvSpPr>
        <p:spPr>
          <a:xfrm>
            <a:off x="8872264" y="0"/>
            <a:ext cx="0" cy="7163665"/>
          </a:xfrm>
          <a:prstGeom prst="line">
            <a:avLst/>
          </a:prstGeom>
          <a:ln cap="rnd" w="19050">
            <a:solidFill>
              <a:srgbClr val="3A58E4"/>
            </a:solidFill>
            <a:prstDash val="solid"/>
            <a:headEnd type="none" len="sm" w="sm"/>
            <a:tailEnd type="none" len="sm" w="sm"/>
          </a:ln>
        </p:spPr>
      </p:sp>
      <p:sp>
        <p:nvSpPr>
          <p:cNvPr name="AutoShape 7" id="7"/>
          <p:cNvSpPr/>
          <p:nvPr/>
        </p:nvSpPr>
        <p:spPr>
          <a:xfrm>
            <a:off x="13301844" y="0"/>
            <a:ext cx="0" cy="7163665"/>
          </a:xfrm>
          <a:prstGeom prst="line">
            <a:avLst/>
          </a:prstGeom>
          <a:ln cap="rnd" w="19050">
            <a:solidFill>
              <a:srgbClr val="3A58E4"/>
            </a:solidFill>
            <a:prstDash val="solid"/>
            <a:headEnd type="none" len="sm" w="sm"/>
            <a:tailEnd type="none" len="sm" w="sm"/>
          </a:ln>
        </p:spPr>
      </p:sp>
      <p:sp>
        <p:nvSpPr>
          <p:cNvPr name="AutoShape 8" id="8"/>
          <p:cNvSpPr/>
          <p:nvPr/>
        </p:nvSpPr>
        <p:spPr>
          <a:xfrm>
            <a:off x="0" y="7173190"/>
            <a:ext cx="18288000" cy="0"/>
          </a:xfrm>
          <a:prstGeom prst="line">
            <a:avLst/>
          </a:prstGeom>
          <a:ln cap="rnd" w="19050">
            <a:solidFill>
              <a:srgbClr val="3A58E4"/>
            </a:solidFill>
            <a:prstDash val="solid"/>
            <a:headEnd type="none" len="sm" w="sm"/>
            <a:tailEnd type="none" len="sm" w="sm"/>
          </a:ln>
        </p:spPr>
      </p:sp>
      <p:grpSp>
        <p:nvGrpSpPr>
          <p:cNvPr name="Group 9" id="9"/>
          <p:cNvGrpSpPr/>
          <p:nvPr/>
        </p:nvGrpSpPr>
        <p:grpSpPr>
          <a:xfrm rot="0">
            <a:off x="16305" y="25042"/>
            <a:ext cx="1197405" cy="1180731"/>
            <a:chOff x="0" y="0"/>
            <a:chExt cx="1596540" cy="1574308"/>
          </a:xfrm>
        </p:grpSpPr>
        <p:grpSp>
          <p:nvGrpSpPr>
            <p:cNvPr name="Group 10" id="10"/>
            <p:cNvGrpSpPr/>
            <p:nvPr/>
          </p:nvGrpSpPr>
          <p:grpSpPr>
            <a:xfrm rot="0">
              <a:off x="0" y="0"/>
              <a:ext cx="1596540" cy="1574308"/>
              <a:chOff x="0" y="0"/>
              <a:chExt cx="787566" cy="776599"/>
            </a:xfrm>
          </p:grpSpPr>
          <p:sp>
            <p:nvSpPr>
              <p:cNvPr name="Freeform 11" id="11"/>
              <p:cNvSpPr/>
              <p:nvPr/>
            </p:nvSpPr>
            <p:spPr>
              <a:xfrm flipH="false" flipV="false" rot="0">
                <a:off x="0" y="0"/>
                <a:ext cx="787566" cy="776599"/>
              </a:xfrm>
              <a:custGeom>
                <a:avLst/>
                <a:gdLst/>
                <a:ahLst/>
                <a:cxnLst/>
                <a:rect r="r" b="b" t="t" l="l"/>
                <a:pathLst>
                  <a:path h="776599" w="787566">
                    <a:moveTo>
                      <a:pt x="0" y="0"/>
                    </a:moveTo>
                    <a:lnTo>
                      <a:pt x="787566" y="0"/>
                    </a:lnTo>
                    <a:lnTo>
                      <a:pt x="787566" y="776599"/>
                    </a:lnTo>
                    <a:lnTo>
                      <a:pt x="0" y="776599"/>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2" id="12"/>
              <p:cNvSpPr txBox="true"/>
              <p:nvPr/>
            </p:nvSpPr>
            <p:spPr>
              <a:xfrm>
                <a:off x="0" y="-38100"/>
                <a:ext cx="787566" cy="81469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206583" y="454809"/>
              <a:ext cx="1183375" cy="750414"/>
            </a:xfrm>
            <a:prstGeom prst="rect">
              <a:avLst/>
            </a:prstGeom>
          </p:spPr>
          <p:txBody>
            <a:bodyPr anchor="t" rtlCol="false" tIns="0" lIns="0" bIns="0" rIns="0">
              <a:spAutoFit/>
            </a:bodyPr>
            <a:lstStyle/>
            <a:p>
              <a:pPr algn="ctr" marL="0" indent="0" lvl="0">
                <a:lnSpc>
                  <a:spcPts val="4047"/>
                </a:lnSpc>
              </a:pPr>
              <a:r>
                <a:rPr lang="en-US" sz="4130" spc="-264">
                  <a:solidFill>
                    <a:srgbClr val="FFFFFF"/>
                  </a:solidFill>
                  <a:latin typeface="Bricolage Grotesque"/>
                  <a:ea typeface="Bricolage Grotesque"/>
                  <a:cs typeface="Bricolage Grotesque"/>
                  <a:sym typeface="Bricolage Grotesque"/>
                </a:rPr>
                <a:t>01</a:t>
              </a:r>
            </a:p>
          </p:txBody>
        </p:sp>
      </p:grpSp>
      <p:grpSp>
        <p:nvGrpSpPr>
          <p:cNvPr name="Group 14" id="14"/>
          <p:cNvGrpSpPr/>
          <p:nvPr/>
        </p:nvGrpSpPr>
        <p:grpSpPr>
          <a:xfrm rot="0">
            <a:off x="4442685" y="25042"/>
            <a:ext cx="1197405" cy="1180731"/>
            <a:chOff x="0" y="0"/>
            <a:chExt cx="1596540" cy="1574308"/>
          </a:xfrm>
        </p:grpSpPr>
        <p:grpSp>
          <p:nvGrpSpPr>
            <p:cNvPr name="Group 15" id="15"/>
            <p:cNvGrpSpPr/>
            <p:nvPr/>
          </p:nvGrpSpPr>
          <p:grpSpPr>
            <a:xfrm rot="0">
              <a:off x="0" y="0"/>
              <a:ext cx="1596540" cy="1574308"/>
              <a:chOff x="0" y="0"/>
              <a:chExt cx="787566" cy="776599"/>
            </a:xfrm>
          </p:grpSpPr>
          <p:sp>
            <p:nvSpPr>
              <p:cNvPr name="Freeform 16" id="16"/>
              <p:cNvSpPr/>
              <p:nvPr/>
            </p:nvSpPr>
            <p:spPr>
              <a:xfrm flipH="false" flipV="false" rot="0">
                <a:off x="0" y="0"/>
                <a:ext cx="787566" cy="776599"/>
              </a:xfrm>
              <a:custGeom>
                <a:avLst/>
                <a:gdLst/>
                <a:ahLst/>
                <a:cxnLst/>
                <a:rect r="r" b="b" t="t" l="l"/>
                <a:pathLst>
                  <a:path h="776599" w="787566">
                    <a:moveTo>
                      <a:pt x="0" y="0"/>
                    </a:moveTo>
                    <a:lnTo>
                      <a:pt x="787566" y="0"/>
                    </a:lnTo>
                    <a:lnTo>
                      <a:pt x="787566" y="776599"/>
                    </a:lnTo>
                    <a:lnTo>
                      <a:pt x="0" y="776599"/>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787566" cy="81469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206583" y="454809"/>
              <a:ext cx="1183375" cy="750414"/>
            </a:xfrm>
            <a:prstGeom prst="rect">
              <a:avLst/>
            </a:prstGeom>
          </p:spPr>
          <p:txBody>
            <a:bodyPr anchor="t" rtlCol="false" tIns="0" lIns="0" bIns="0" rIns="0">
              <a:spAutoFit/>
            </a:bodyPr>
            <a:lstStyle/>
            <a:p>
              <a:pPr algn="ctr" marL="0" indent="0" lvl="0">
                <a:lnSpc>
                  <a:spcPts val="4047"/>
                </a:lnSpc>
              </a:pPr>
              <a:r>
                <a:rPr lang="en-US" sz="4130" spc="-264">
                  <a:solidFill>
                    <a:srgbClr val="FFFFFF"/>
                  </a:solidFill>
                  <a:latin typeface="Bricolage Grotesque"/>
                  <a:ea typeface="Bricolage Grotesque"/>
                  <a:cs typeface="Bricolage Grotesque"/>
                  <a:sym typeface="Bricolage Grotesque"/>
                </a:rPr>
                <a:t>02</a:t>
              </a:r>
            </a:p>
          </p:txBody>
        </p:sp>
      </p:grpSp>
      <p:grpSp>
        <p:nvGrpSpPr>
          <p:cNvPr name="Group 19" id="19"/>
          <p:cNvGrpSpPr/>
          <p:nvPr/>
        </p:nvGrpSpPr>
        <p:grpSpPr>
          <a:xfrm rot="0">
            <a:off x="8875845" y="25042"/>
            <a:ext cx="1197405" cy="1180731"/>
            <a:chOff x="0" y="0"/>
            <a:chExt cx="1596540" cy="1574308"/>
          </a:xfrm>
        </p:grpSpPr>
        <p:grpSp>
          <p:nvGrpSpPr>
            <p:cNvPr name="Group 20" id="20"/>
            <p:cNvGrpSpPr/>
            <p:nvPr/>
          </p:nvGrpSpPr>
          <p:grpSpPr>
            <a:xfrm rot="0">
              <a:off x="0" y="0"/>
              <a:ext cx="1596540" cy="1574308"/>
              <a:chOff x="0" y="0"/>
              <a:chExt cx="787566" cy="776599"/>
            </a:xfrm>
          </p:grpSpPr>
          <p:sp>
            <p:nvSpPr>
              <p:cNvPr name="Freeform 21" id="21"/>
              <p:cNvSpPr/>
              <p:nvPr/>
            </p:nvSpPr>
            <p:spPr>
              <a:xfrm flipH="false" flipV="false" rot="0">
                <a:off x="0" y="0"/>
                <a:ext cx="787566" cy="776599"/>
              </a:xfrm>
              <a:custGeom>
                <a:avLst/>
                <a:gdLst/>
                <a:ahLst/>
                <a:cxnLst/>
                <a:rect r="r" b="b" t="t" l="l"/>
                <a:pathLst>
                  <a:path h="776599" w="787566">
                    <a:moveTo>
                      <a:pt x="0" y="0"/>
                    </a:moveTo>
                    <a:lnTo>
                      <a:pt x="787566" y="0"/>
                    </a:lnTo>
                    <a:lnTo>
                      <a:pt x="787566" y="776599"/>
                    </a:lnTo>
                    <a:lnTo>
                      <a:pt x="0" y="776599"/>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2" id="22"/>
              <p:cNvSpPr txBox="true"/>
              <p:nvPr/>
            </p:nvSpPr>
            <p:spPr>
              <a:xfrm>
                <a:off x="0" y="-38100"/>
                <a:ext cx="787566" cy="81469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06583" y="454809"/>
              <a:ext cx="1183375" cy="750414"/>
            </a:xfrm>
            <a:prstGeom prst="rect">
              <a:avLst/>
            </a:prstGeom>
          </p:spPr>
          <p:txBody>
            <a:bodyPr anchor="t" rtlCol="false" tIns="0" lIns="0" bIns="0" rIns="0">
              <a:spAutoFit/>
            </a:bodyPr>
            <a:lstStyle/>
            <a:p>
              <a:pPr algn="ctr" marL="0" indent="0" lvl="0">
                <a:lnSpc>
                  <a:spcPts val="4047"/>
                </a:lnSpc>
              </a:pPr>
              <a:r>
                <a:rPr lang="en-US" sz="4130" spc="-264">
                  <a:solidFill>
                    <a:srgbClr val="FFFFFF"/>
                  </a:solidFill>
                  <a:latin typeface="Bricolage Grotesque"/>
                  <a:ea typeface="Bricolage Grotesque"/>
                  <a:cs typeface="Bricolage Grotesque"/>
                  <a:sym typeface="Bricolage Grotesque"/>
                </a:rPr>
                <a:t>03</a:t>
              </a:r>
            </a:p>
          </p:txBody>
        </p:sp>
      </p:grpSp>
      <p:grpSp>
        <p:nvGrpSpPr>
          <p:cNvPr name="Group 24" id="24"/>
          <p:cNvGrpSpPr/>
          <p:nvPr/>
        </p:nvGrpSpPr>
        <p:grpSpPr>
          <a:xfrm rot="0">
            <a:off x="13309005" y="25042"/>
            <a:ext cx="1197405" cy="1180731"/>
            <a:chOff x="0" y="0"/>
            <a:chExt cx="1596540" cy="1574308"/>
          </a:xfrm>
        </p:grpSpPr>
        <p:grpSp>
          <p:nvGrpSpPr>
            <p:cNvPr name="Group 25" id="25"/>
            <p:cNvGrpSpPr/>
            <p:nvPr/>
          </p:nvGrpSpPr>
          <p:grpSpPr>
            <a:xfrm rot="0">
              <a:off x="0" y="0"/>
              <a:ext cx="1596540" cy="1574308"/>
              <a:chOff x="0" y="0"/>
              <a:chExt cx="787566" cy="776599"/>
            </a:xfrm>
          </p:grpSpPr>
          <p:sp>
            <p:nvSpPr>
              <p:cNvPr name="Freeform 26" id="26"/>
              <p:cNvSpPr/>
              <p:nvPr/>
            </p:nvSpPr>
            <p:spPr>
              <a:xfrm flipH="false" flipV="false" rot="0">
                <a:off x="0" y="0"/>
                <a:ext cx="787566" cy="776599"/>
              </a:xfrm>
              <a:custGeom>
                <a:avLst/>
                <a:gdLst/>
                <a:ahLst/>
                <a:cxnLst/>
                <a:rect r="r" b="b" t="t" l="l"/>
                <a:pathLst>
                  <a:path h="776599" w="787566">
                    <a:moveTo>
                      <a:pt x="0" y="0"/>
                    </a:moveTo>
                    <a:lnTo>
                      <a:pt x="787566" y="0"/>
                    </a:lnTo>
                    <a:lnTo>
                      <a:pt x="787566" y="776599"/>
                    </a:lnTo>
                    <a:lnTo>
                      <a:pt x="0" y="776599"/>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7" id="27"/>
              <p:cNvSpPr txBox="true"/>
              <p:nvPr/>
            </p:nvSpPr>
            <p:spPr>
              <a:xfrm>
                <a:off x="0" y="-38100"/>
                <a:ext cx="787566" cy="81469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8" id="28"/>
            <p:cNvSpPr txBox="true"/>
            <p:nvPr/>
          </p:nvSpPr>
          <p:spPr>
            <a:xfrm rot="0">
              <a:off x="206583" y="454809"/>
              <a:ext cx="1183375" cy="750414"/>
            </a:xfrm>
            <a:prstGeom prst="rect">
              <a:avLst/>
            </a:prstGeom>
          </p:spPr>
          <p:txBody>
            <a:bodyPr anchor="t" rtlCol="false" tIns="0" lIns="0" bIns="0" rIns="0">
              <a:spAutoFit/>
            </a:bodyPr>
            <a:lstStyle/>
            <a:p>
              <a:pPr algn="ctr" marL="0" indent="0" lvl="0">
                <a:lnSpc>
                  <a:spcPts val="4047"/>
                </a:lnSpc>
              </a:pPr>
              <a:r>
                <a:rPr lang="en-US" sz="4130" spc="-264">
                  <a:solidFill>
                    <a:srgbClr val="FFFFFF"/>
                  </a:solidFill>
                  <a:latin typeface="Bricolage Grotesque"/>
                  <a:ea typeface="Bricolage Grotesque"/>
                  <a:cs typeface="Bricolage Grotesque"/>
                  <a:sym typeface="Bricolage Grotesque"/>
                </a:rPr>
                <a:t>04</a:t>
              </a:r>
            </a:p>
          </p:txBody>
        </p:sp>
      </p:grpSp>
      <p:sp>
        <p:nvSpPr>
          <p:cNvPr name="Freeform 29" id="29"/>
          <p:cNvSpPr/>
          <p:nvPr/>
        </p:nvSpPr>
        <p:spPr>
          <a:xfrm flipH="false" flipV="false" rot="0">
            <a:off x="10626066" y="1921582"/>
            <a:ext cx="921977" cy="757697"/>
          </a:xfrm>
          <a:custGeom>
            <a:avLst/>
            <a:gdLst/>
            <a:ahLst/>
            <a:cxnLst/>
            <a:rect r="r" b="b" t="t" l="l"/>
            <a:pathLst>
              <a:path h="757697" w="921977">
                <a:moveTo>
                  <a:pt x="0" y="0"/>
                </a:moveTo>
                <a:lnTo>
                  <a:pt x="921977" y="0"/>
                </a:lnTo>
                <a:lnTo>
                  <a:pt x="921977" y="757698"/>
                </a:lnTo>
                <a:lnTo>
                  <a:pt x="0" y="757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5400000">
            <a:off x="15147491" y="1908764"/>
            <a:ext cx="757697" cy="783334"/>
          </a:xfrm>
          <a:custGeom>
            <a:avLst/>
            <a:gdLst/>
            <a:ahLst/>
            <a:cxnLst/>
            <a:rect r="r" b="b" t="t" l="l"/>
            <a:pathLst>
              <a:path h="783334" w="757697">
                <a:moveTo>
                  <a:pt x="0" y="0"/>
                </a:moveTo>
                <a:lnTo>
                  <a:pt x="757697" y="0"/>
                </a:lnTo>
                <a:lnTo>
                  <a:pt x="757697" y="783334"/>
                </a:lnTo>
                <a:lnTo>
                  <a:pt x="0" y="7833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0">
            <a:off x="1742685" y="2007222"/>
            <a:ext cx="977364" cy="586418"/>
          </a:xfrm>
          <a:custGeom>
            <a:avLst/>
            <a:gdLst/>
            <a:ahLst/>
            <a:cxnLst/>
            <a:rect r="r" b="b" t="t" l="l"/>
            <a:pathLst>
              <a:path h="586418" w="977364">
                <a:moveTo>
                  <a:pt x="0" y="0"/>
                </a:moveTo>
                <a:lnTo>
                  <a:pt x="977363" y="0"/>
                </a:lnTo>
                <a:lnTo>
                  <a:pt x="977363" y="586418"/>
                </a:lnTo>
                <a:lnTo>
                  <a:pt x="0" y="5864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2" id="32"/>
          <p:cNvGrpSpPr/>
          <p:nvPr/>
        </p:nvGrpSpPr>
        <p:grpSpPr>
          <a:xfrm rot="0">
            <a:off x="1028700" y="8125800"/>
            <a:ext cx="22757" cy="975106"/>
            <a:chOff x="0" y="0"/>
            <a:chExt cx="12543" cy="537460"/>
          </a:xfrm>
        </p:grpSpPr>
        <p:sp>
          <p:nvSpPr>
            <p:cNvPr name="Freeform 33" id="3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34" id="3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5" id="35"/>
          <p:cNvGrpSpPr/>
          <p:nvPr/>
        </p:nvGrpSpPr>
        <p:grpSpPr>
          <a:xfrm rot="0">
            <a:off x="-9525" y="7173190"/>
            <a:ext cx="546689" cy="3113810"/>
            <a:chOff x="0" y="0"/>
            <a:chExt cx="143984" cy="820098"/>
          </a:xfrm>
        </p:grpSpPr>
        <p:sp>
          <p:nvSpPr>
            <p:cNvPr name="Freeform 36" id="36"/>
            <p:cNvSpPr/>
            <p:nvPr/>
          </p:nvSpPr>
          <p:spPr>
            <a:xfrm flipH="false" flipV="false" rot="0">
              <a:off x="0" y="0"/>
              <a:ext cx="143984" cy="820098"/>
            </a:xfrm>
            <a:custGeom>
              <a:avLst/>
              <a:gdLst/>
              <a:ahLst/>
              <a:cxnLst/>
              <a:rect r="r" b="b" t="t" l="l"/>
              <a:pathLst>
                <a:path h="820098" w="143984">
                  <a:moveTo>
                    <a:pt x="0" y="0"/>
                  </a:moveTo>
                  <a:lnTo>
                    <a:pt x="143984" y="0"/>
                  </a:lnTo>
                  <a:lnTo>
                    <a:pt x="143984" y="820098"/>
                  </a:lnTo>
                  <a:lnTo>
                    <a:pt x="0" y="820098"/>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37" id="37"/>
            <p:cNvSpPr txBox="true"/>
            <p:nvPr/>
          </p:nvSpPr>
          <p:spPr>
            <a:xfrm>
              <a:off x="0" y="-38100"/>
              <a:ext cx="143984" cy="8581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8" id="38"/>
          <p:cNvSpPr/>
          <p:nvPr/>
        </p:nvSpPr>
        <p:spPr>
          <a:xfrm flipH="false" flipV="false" rot="0">
            <a:off x="6080169" y="1964402"/>
            <a:ext cx="1154611" cy="672058"/>
          </a:xfrm>
          <a:custGeom>
            <a:avLst/>
            <a:gdLst/>
            <a:ahLst/>
            <a:cxnLst/>
            <a:rect r="r" b="b" t="t" l="l"/>
            <a:pathLst>
              <a:path h="672058" w="1154611">
                <a:moveTo>
                  <a:pt x="0" y="0"/>
                </a:moveTo>
                <a:lnTo>
                  <a:pt x="1154611" y="0"/>
                </a:lnTo>
                <a:lnTo>
                  <a:pt x="1154611" y="672058"/>
                </a:lnTo>
                <a:lnTo>
                  <a:pt x="0" y="6720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9" id="39"/>
          <p:cNvSpPr txBox="true"/>
          <p:nvPr/>
        </p:nvSpPr>
        <p:spPr>
          <a:xfrm rot="0">
            <a:off x="562973" y="4177258"/>
            <a:ext cx="3336787" cy="2141376"/>
          </a:xfrm>
          <a:prstGeom prst="rect">
            <a:avLst/>
          </a:prstGeom>
        </p:spPr>
        <p:txBody>
          <a:bodyPr anchor="t" rtlCol="false" tIns="0" lIns="0" bIns="0" rIns="0">
            <a:spAutoFit/>
          </a:bodyPr>
          <a:lstStyle/>
          <a:p>
            <a:pPr algn="just" marL="0" indent="0" lvl="0">
              <a:lnSpc>
                <a:spcPts val="2129"/>
              </a:lnSpc>
            </a:pPr>
            <a:r>
              <a:rPr lang="en-US" sz="1637" spc="-4">
                <a:solidFill>
                  <a:srgbClr val="3A58E4"/>
                </a:solidFill>
                <a:latin typeface="Poppins"/>
                <a:ea typeface="Poppins"/>
                <a:cs typeface="Poppins"/>
                <a:sym typeface="Poppins"/>
              </a:rPr>
              <a:t>Addressed missing values in key columns including ratings, genre, and duration fields. Applied mode imputation for categorical fields and mean imputation for numerical columns to ensure complete dataset integrity.</a:t>
            </a:r>
          </a:p>
        </p:txBody>
      </p:sp>
      <p:sp>
        <p:nvSpPr>
          <p:cNvPr name="TextBox 40" id="40"/>
          <p:cNvSpPr txBox="true"/>
          <p:nvPr/>
        </p:nvSpPr>
        <p:spPr>
          <a:xfrm rot="0">
            <a:off x="4989081" y="4177258"/>
            <a:ext cx="3336787" cy="2141376"/>
          </a:xfrm>
          <a:prstGeom prst="rect">
            <a:avLst/>
          </a:prstGeom>
        </p:spPr>
        <p:txBody>
          <a:bodyPr anchor="t" rtlCol="false" tIns="0" lIns="0" bIns="0" rIns="0">
            <a:spAutoFit/>
          </a:bodyPr>
          <a:lstStyle/>
          <a:p>
            <a:pPr algn="just" marL="0" indent="0" lvl="0">
              <a:lnSpc>
                <a:spcPts val="2129"/>
              </a:lnSpc>
            </a:pPr>
            <a:r>
              <a:rPr lang="en-US" sz="1637" spc="-4">
                <a:solidFill>
                  <a:srgbClr val="3A58E4"/>
                </a:solidFill>
                <a:latin typeface="Poppins"/>
                <a:ea typeface="Poppins"/>
                <a:cs typeface="Poppins"/>
                <a:sym typeface="Poppins"/>
              </a:rPr>
              <a:t>Removed 18,425 duplicate entries identified by matching title, release year, and duration. Standardized inconsistent naming conventions and eliminated malformed records affecting 2.3% of the original dataset.</a:t>
            </a:r>
          </a:p>
        </p:txBody>
      </p:sp>
      <p:sp>
        <p:nvSpPr>
          <p:cNvPr name="TextBox 41" id="41"/>
          <p:cNvSpPr txBox="true"/>
          <p:nvPr/>
        </p:nvSpPr>
        <p:spPr>
          <a:xfrm rot="0">
            <a:off x="9415189" y="4443958"/>
            <a:ext cx="3336787" cy="1874676"/>
          </a:xfrm>
          <a:prstGeom prst="rect">
            <a:avLst/>
          </a:prstGeom>
        </p:spPr>
        <p:txBody>
          <a:bodyPr anchor="t" rtlCol="false" tIns="0" lIns="0" bIns="0" rIns="0">
            <a:spAutoFit/>
          </a:bodyPr>
          <a:lstStyle/>
          <a:p>
            <a:pPr algn="just" marL="0" indent="0" lvl="0">
              <a:lnSpc>
                <a:spcPts val="2129"/>
              </a:lnSpc>
            </a:pPr>
            <a:r>
              <a:rPr lang="en-US" sz="1637" spc="-4">
                <a:solidFill>
                  <a:srgbClr val="3A58E4"/>
                </a:solidFill>
                <a:latin typeface="Poppins"/>
                <a:ea typeface="Poppins"/>
                <a:cs typeface="Poppins"/>
                <a:sym typeface="Poppins"/>
              </a:rPr>
              <a:t>Applied one-hot encoding for multi-label genre columns and label encoding for categorical variables. Normalized numerical features using min-max scaling to [0,1] range for model compatibility.</a:t>
            </a:r>
          </a:p>
        </p:txBody>
      </p:sp>
      <p:sp>
        <p:nvSpPr>
          <p:cNvPr name="TextBox 42" id="42"/>
          <p:cNvSpPr txBox="true"/>
          <p:nvPr/>
        </p:nvSpPr>
        <p:spPr>
          <a:xfrm rot="0">
            <a:off x="13844769" y="4443958"/>
            <a:ext cx="3336787" cy="1874676"/>
          </a:xfrm>
          <a:prstGeom prst="rect">
            <a:avLst/>
          </a:prstGeom>
        </p:spPr>
        <p:txBody>
          <a:bodyPr anchor="t" rtlCol="false" tIns="0" lIns="0" bIns="0" rIns="0">
            <a:spAutoFit/>
          </a:bodyPr>
          <a:lstStyle/>
          <a:p>
            <a:pPr algn="just" marL="0" indent="0" lvl="0">
              <a:lnSpc>
                <a:spcPts val="2129"/>
              </a:lnSpc>
            </a:pPr>
            <a:r>
              <a:rPr lang="en-US" sz="1637" spc="-4">
                <a:solidFill>
                  <a:srgbClr val="3A58E4"/>
                </a:solidFill>
                <a:latin typeface="Poppins"/>
                <a:ea typeface="Poppins"/>
                <a:cs typeface="Poppins"/>
                <a:sym typeface="Poppins"/>
              </a:rPr>
              <a:t>Engineered features including content age classification, popularity score, and genre diversity index. Final prepared dataset: 770,400 records ready for modeling with 127 engineered features.</a:t>
            </a:r>
          </a:p>
        </p:txBody>
      </p:sp>
      <p:sp>
        <p:nvSpPr>
          <p:cNvPr name="TextBox 43" id="43"/>
          <p:cNvSpPr txBox="true"/>
          <p:nvPr/>
        </p:nvSpPr>
        <p:spPr>
          <a:xfrm rot="0">
            <a:off x="1137678" y="8096204"/>
            <a:ext cx="2762082" cy="1162096"/>
          </a:xfrm>
          <a:prstGeom prst="rect">
            <a:avLst/>
          </a:prstGeom>
        </p:spPr>
        <p:txBody>
          <a:bodyPr anchor="t" rtlCol="false" tIns="0" lIns="0" bIns="0" rIns="0">
            <a:spAutoFit/>
          </a:bodyPr>
          <a:lstStyle/>
          <a:p>
            <a:pPr algn="l" marL="0" indent="0" lvl="0">
              <a:lnSpc>
                <a:spcPts val="4471"/>
              </a:lnSpc>
            </a:pPr>
            <a:r>
              <a:rPr lang="en-US" sz="4563" spc="-29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Data Preparation</a:t>
            </a:r>
          </a:p>
        </p:txBody>
      </p:sp>
      <p:sp>
        <p:nvSpPr>
          <p:cNvPr name="TextBox 44" id="44"/>
          <p:cNvSpPr txBox="true"/>
          <p:nvPr/>
        </p:nvSpPr>
        <p:spPr>
          <a:xfrm rot="0">
            <a:off x="4989081" y="8214231"/>
            <a:ext cx="7762895" cy="886675"/>
          </a:xfrm>
          <a:prstGeom prst="rect">
            <a:avLst/>
          </a:prstGeom>
        </p:spPr>
        <p:txBody>
          <a:bodyPr anchor="t" rtlCol="false" tIns="0" lIns="0" bIns="0" rIns="0">
            <a:spAutoFit/>
          </a:bodyPr>
          <a:lstStyle/>
          <a:p>
            <a:pPr algn="just" marL="0" indent="0" lvl="0">
              <a:lnSpc>
                <a:spcPts val="2326"/>
              </a:lnSpc>
            </a:pPr>
            <a:r>
              <a:rPr lang="en-US" sz="1661" spc="-4">
                <a:solidFill>
                  <a:srgbClr val="3A58E4"/>
                </a:solidFill>
                <a:latin typeface="Poppins"/>
                <a:ea typeface="Poppins"/>
                <a:cs typeface="Poppins"/>
                <a:sym typeface="Poppins"/>
              </a:rPr>
              <a:t>Comprehensive data cleaning and feature engineering transformed the raw 2024 Netflix catalog into a modeling-ready dataset with 127 features, enabling robust classification, clustering, and forecasting analysis.</a:t>
            </a:r>
          </a:p>
        </p:txBody>
      </p:sp>
      <p:sp>
        <p:nvSpPr>
          <p:cNvPr name="TextBox 45" id="45"/>
          <p:cNvSpPr txBox="true"/>
          <p:nvPr/>
        </p:nvSpPr>
        <p:spPr>
          <a:xfrm rot="0">
            <a:off x="512270" y="3090400"/>
            <a:ext cx="3438193" cy="807700"/>
          </a:xfrm>
          <a:prstGeom prst="rect">
            <a:avLst/>
          </a:prstGeom>
        </p:spPr>
        <p:txBody>
          <a:bodyPr anchor="t" rtlCol="false" tIns="0" lIns="0" bIns="0" rIns="0">
            <a:spAutoFit/>
          </a:bodyPr>
          <a:lstStyle/>
          <a:p>
            <a:pPr algn="ctr" marL="0" indent="0" lvl="0">
              <a:lnSpc>
                <a:spcPts val="3256"/>
              </a:lnSpc>
              <a:spcBef>
                <a:spcPct val="0"/>
              </a:spcBef>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MISSING VALUE</a:t>
            </a:r>
          </a:p>
          <a:p>
            <a:pPr algn="ctr" marL="0" indent="0" lvl="0">
              <a:lnSpc>
                <a:spcPts val="3256"/>
              </a:lnSpc>
              <a:spcBef>
                <a:spcPct val="0"/>
              </a:spcBef>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IMPUTATION</a:t>
            </a:r>
          </a:p>
        </p:txBody>
      </p:sp>
      <p:sp>
        <p:nvSpPr>
          <p:cNvPr name="TextBox 46" id="46"/>
          <p:cNvSpPr txBox="true"/>
          <p:nvPr/>
        </p:nvSpPr>
        <p:spPr>
          <a:xfrm rot="0">
            <a:off x="4938378" y="3090400"/>
            <a:ext cx="3438193" cy="807700"/>
          </a:xfrm>
          <a:prstGeom prst="rect">
            <a:avLst/>
          </a:prstGeom>
        </p:spPr>
        <p:txBody>
          <a:bodyPr anchor="t" rtlCol="false" tIns="0" lIns="0" bIns="0" rIns="0">
            <a:spAutoFit/>
          </a:bodyPr>
          <a:lstStyle/>
          <a:p>
            <a:pPr algn="ctr" marL="0" indent="0" lvl="0">
              <a:lnSpc>
                <a:spcPts val="3256"/>
              </a:lnSpc>
              <a:spcBef>
                <a:spcPct val="0"/>
              </a:spcBef>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DUPLICATE &amp;</a:t>
            </a:r>
          </a:p>
          <a:p>
            <a:pPr algn="ctr" marL="0" indent="0" lvl="0">
              <a:lnSpc>
                <a:spcPts val="3256"/>
              </a:lnSpc>
              <a:spcBef>
                <a:spcPct val="0"/>
              </a:spcBef>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INVALID RECORD REMOVAL</a:t>
            </a:r>
          </a:p>
        </p:txBody>
      </p:sp>
      <p:sp>
        <p:nvSpPr>
          <p:cNvPr name="TextBox 47" id="47"/>
          <p:cNvSpPr txBox="true"/>
          <p:nvPr/>
        </p:nvSpPr>
        <p:spPr>
          <a:xfrm rot="0">
            <a:off x="9364486" y="3090400"/>
            <a:ext cx="3438193" cy="807700"/>
          </a:xfrm>
          <a:prstGeom prst="rect">
            <a:avLst/>
          </a:prstGeom>
        </p:spPr>
        <p:txBody>
          <a:bodyPr anchor="t" rtlCol="false" tIns="0" lIns="0" bIns="0" rIns="0">
            <a:spAutoFit/>
          </a:bodyPr>
          <a:lstStyle/>
          <a:p>
            <a:pPr algn="ctr" marL="0" indent="0" lvl="0">
              <a:lnSpc>
                <a:spcPts val="3256"/>
              </a:lnSpc>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ENCODING &amp;</a:t>
            </a:r>
          </a:p>
          <a:p>
            <a:pPr algn="ctr" marL="0" indent="0" lvl="0">
              <a:lnSpc>
                <a:spcPts val="3256"/>
              </a:lnSpc>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NORMALIZATION</a:t>
            </a:r>
          </a:p>
        </p:txBody>
      </p:sp>
      <p:sp>
        <p:nvSpPr>
          <p:cNvPr name="TextBox 48" id="48"/>
          <p:cNvSpPr txBox="true"/>
          <p:nvPr/>
        </p:nvSpPr>
        <p:spPr>
          <a:xfrm rot="0">
            <a:off x="13794066" y="3090400"/>
            <a:ext cx="3438193" cy="807700"/>
          </a:xfrm>
          <a:prstGeom prst="rect">
            <a:avLst/>
          </a:prstGeom>
        </p:spPr>
        <p:txBody>
          <a:bodyPr anchor="t" rtlCol="false" tIns="0" lIns="0" bIns="0" rIns="0">
            <a:spAutoFit/>
          </a:bodyPr>
          <a:lstStyle/>
          <a:p>
            <a:pPr algn="ctr" marL="0" indent="0" lvl="0">
              <a:lnSpc>
                <a:spcPts val="3256"/>
              </a:lnSpc>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FEATURE</a:t>
            </a:r>
          </a:p>
          <a:p>
            <a:pPr algn="ctr" marL="0" indent="0" lvl="0">
              <a:lnSpc>
                <a:spcPts val="3256"/>
              </a:lnSpc>
            </a:pPr>
            <a:r>
              <a:rPr lang="en-US" b="true" sz="2325" spc="-148">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ENGINEERING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35417"/>
            <a:ext cx="1849954" cy="1812750"/>
            <a:chOff x="0" y="0"/>
            <a:chExt cx="2466605" cy="2417000"/>
          </a:xfrm>
        </p:grpSpPr>
        <p:grpSp>
          <p:nvGrpSpPr>
            <p:cNvPr name="Group 3" id="3"/>
            <p:cNvGrpSpPr/>
            <p:nvPr/>
          </p:nvGrpSpPr>
          <p:grpSpPr>
            <a:xfrm rot="0">
              <a:off x="0" y="0"/>
              <a:ext cx="2466605" cy="2417000"/>
              <a:chOff x="0" y="0"/>
              <a:chExt cx="787566" cy="771727"/>
            </a:xfrm>
          </p:grpSpPr>
          <p:sp>
            <p:nvSpPr>
              <p:cNvPr name="Freeform 4" id="4"/>
              <p:cNvSpPr/>
              <p:nvPr/>
            </p:nvSpPr>
            <p:spPr>
              <a:xfrm flipH="false" flipV="false" rot="0">
                <a:off x="0" y="0"/>
                <a:ext cx="787566" cy="771727"/>
              </a:xfrm>
              <a:custGeom>
                <a:avLst/>
                <a:gdLst/>
                <a:ahLst/>
                <a:cxnLst/>
                <a:rect r="r" b="b" t="t" l="l"/>
                <a:pathLst>
                  <a:path h="771727" w="787566">
                    <a:moveTo>
                      <a:pt x="0" y="0"/>
                    </a:moveTo>
                    <a:lnTo>
                      <a:pt x="787566" y="0"/>
                    </a:lnTo>
                    <a:lnTo>
                      <a:pt x="787566" y="771727"/>
                    </a:lnTo>
                    <a:lnTo>
                      <a:pt x="0" y="77172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80982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703574"/>
              <a:ext cx="1828278" cy="1143202"/>
            </a:xfrm>
            <a:prstGeom prst="rect">
              <a:avLst/>
            </a:prstGeom>
          </p:spPr>
          <p:txBody>
            <a:bodyPr anchor="t" rtlCol="false" tIns="0" lIns="0" bIns="0" rIns="0">
              <a:spAutoFit/>
            </a:bodyPr>
            <a:lstStyle/>
            <a:p>
              <a:pPr algn="ctr" marL="0" indent="0" lvl="0">
                <a:lnSpc>
                  <a:spcPts val="6185"/>
                </a:lnSpc>
              </a:pPr>
              <a:r>
                <a:rPr lang="en-US" sz="6312" spc="-403">
                  <a:solidFill>
                    <a:srgbClr val="FFFFFF"/>
                  </a:solidFill>
                  <a:latin typeface="Bricolage Grotesque"/>
                  <a:ea typeface="Bricolage Grotesque"/>
                  <a:cs typeface="Bricolage Grotesque"/>
                  <a:sym typeface="Bricolage Grotesque"/>
                </a:rPr>
                <a:t>04</a:t>
              </a:r>
            </a:p>
          </p:txBody>
        </p:sp>
      </p:grpSp>
      <p:grpSp>
        <p:nvGrpSpPr>
          <p:cNvPr name="Group 7" id="7"/>
          <p:cNvGrpSpPr/>
          <p:nvPr/>
        </p:nvGrpSpPr>
        <p:grpSpPr>
          <a:xfrm rot="0">
            <a:off x="5536445" y="2779355"/>
            <a:ext cx="7215109" cy="379246"/>
            <a:chOff x="0" y="0"/>
            <a:chExt cx="9620146" cy="505662"/>
          </a:xfrm>
        </p:grpSpPr>
        <p:sp>
          <p:nvSpPr>
            <p:cNvPr name="TextBox 8" id="8"/>
            <p:cNvSpPr txBox="true"/>
            <p:nvPr/>
          </p:nvSpPr>
          <p:spPr>
            <a:xfrm rot="0">
              <a:off x="0" y="-17134"/>
              <a:ext cx="9403826" cy="522796"/>
            </a:xfrm>
            <a:prstGeom prst="rect">
              <a:avLst/>
            </a:prstGeom>
          </p:spPr>
          <p:txBody>
            <a:bodyPr anchor="t" rtlCol="false" tIns="0" lIns="0" bIns="0" rIns="0">
              <a:spAutoFit/>
            </a:bodyPr>
            <a:lstStyle/>
            <a:p>
              <a:pPr algn="l" marL="0" indent="0" lvl="0">
                <a:lnSpc>
                  <a:spcPts val="3194"/>
                </a:lnSpc>
              </a:pPr>
              <a:r>
                <a:rPr lang="en-US" b="true" sz="2281" spc="-57">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ANALYTICAL METHODS AND MODELING APPROACH</a:t>
              </a:r>
            </a:p>
          </p:txBody>
        </p:sp>
        <p:sp>
          <p:nvSpPr>
            <p:cNvPr name="Freeform 9" id="9"/>
            <p:cNvSpPr/>
            <p:nvPr/>
          </p:nvSpPr>
          <p:spPr>
            <a:xfrm flipH="false" flipV="false" rot="-8687136">
              <a:off x="9303126"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3363658" y="1247968"/>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Models Used</a:t>
            </a:r>
          </a:p>
        </p:txBody>
      </p:sp>
      <p:grpSp>
        <p:nvGrpSpPr>
          <p:cNvPr name="Group 11" id="11"/>
          <p:cNvGrpSpPr/>
          <p:nvPr/>
        </p:nvGrpSpPr>
        <p:grpSpPr>
          <a:xfrm rot="0">
            <a:off x="2731310" y="3878731"/>
            <a:ext cx="3213033" cy="5379569"/>
            <a:chOff x="0" y="0"/>
            <a:chExt cx="1387961" cy="2323857"/>
          </a:xfrm>
        </p:grpSpPr>
        <p:sp>
          <p:nvSpPr>
            <p:cNvPr name="Freeform 12" id="12"/>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2B42A8"/>
            </a:solidFill>
          </p:spPr>
        </p:sp>
        <p:sp>
          <p:nvSpPr>
            <p:cNvPr name="TextBox 13" id="13"/>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4" id="14"/>
          <p:cNvGrpSpPr/>
          <p:nvPr/>
        </p:nvGrpSpPr>
        <p:grpSpPr>
          <a:xfrm rot="0">
            <a:off x="5935426" y="3878731"/>
            <a:ext cx="3213033" cy="5379569"/>
            <a:chOff x="0" y="0"/>
            <a:chExt cx="1387961" cy="2323857"/>
          </a:xfrm>
        </p:grpSpPr>
        <p:sp>
          <p:nvSpPr>
            <p:cNvPr name="Freeform 15" id="15"/>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3A58E4"/>
            </a:solidFill>
          </p:spPr>
        </p:sp>
        <p:sp>
          <p:nvSpPr>
            <p:cNvPr name="TextBox 16" id="16"/>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7" id="17"/>
          <p:cNvGrpSpPr/>
          <p:nvPr/>
        </p:nvGrpSpPr>
        <p:grpSpPr>
          <a:xfrm rot="0">
            <a:off x="9139541" y="3878731"/>
            <a:ext cx="3213033" cy="5379569"/>
            <a:chOff x="0" y="0"/>
            <a:chExt cx="1387961" cy="2323857"/>
          </a:xfrm>
        </p:grpSpPr>
        <p:sp>
          <p:nvSpPr>
            <p:cNvPr name="Freeform 18" id="18"/>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6984FE"/>
            </a:solidFill>
          </p:spPr>
        </p:sp>
        <p:sp>
          <p:nvSpPr>
            <p:cNvPr name="TextBox 19" id="19"/>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0" id="20"/>
          <p:cNvGrpSpPr/>
          <p:nvPr/>
        </p:nvGrpSpPr>
        <p:grpSpPr>
          <a:xfrm rot="0">
            <a:off x="12343657" y="3878731"/>
            <a:ext cx="3213033" cy="5379569"/>
            <a:chOff x="0" y="0"/>
            <a:chExt cx="1387961" cy="2323857"/>
          </a:xfrm>
        </p:grpSpPr>
        <p:sp>
          <p:nvSpPr>
            <p:cNvPr name="Freeform 21" id="21"/>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9AADFF"/>
            </a:solidFill>
          </p:spPr>
        </p:sp>
        <p:sp>
          <p:nvSpPr>
            <p:cNvPr name="TextBox 22" id="22"/>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3" id="23"/>
          <p:cNvGrpSpPr/>
          <p:nvPr/>
        </p:nvGrpSpPr>
        <p:grpSpPr>
          <a:xfrm rot="5400000">
            <a:off x="2595745" y="7780405"/>
            <a:ext cx="622999" cy="351870"/>
            <a:chOff x="0" y="0"/>
            <a:chExt cx="1387983" cy="784032"/>
          </a:xfrm>
        </p:grpSpPr>
        <p:sp>
          <p:nvSpPr>
            <p:cNvPr name="Freeform 24" id="24"/>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AFBEFF"/>
            </a:solidFill>
          </p:spPr>
        </p:sp>
        <p:sp>
          <p:nvSpPr>
            <p:cNvPr name="TextBox 25" id="25"/>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6" id="26"/>
          <p:cNvGrpSpPr/>
          <p:nvPr/>
        </p:nvGrpSpPr>
        <p:grpSpPr>
          <a:xfrm rot="5400000">
            <a:off x="5780811" y="5004756"/>
            <a:ext cx="622999" cy="351870"/>
            <a:chOff x="0" y="0"/>
            <a:chExt cx="1387983" cy="784032"/>
          </a:xfrm>
        </p:grpSpPr>
        <p:sp>
          <p:nvSpPr>
            <p:cNvPr name="Freeform 27" id="27"/>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2B42A8"/>
            </a:solidFill>
          </p:spPr>
        </p:sp>
        <p:sp>
          <p:nvSpPr>
            <p:cNvPr name="TextBox 28" id="28"/>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9" id="29"/>
          <p:cNvGrpSpPr/>
          <p:nvPr/>
        </p:nvGrpSpPr>
        <p:grpSpPr>
          <a:xfrm rot="5400000">
            <a:off x="8984927" y="7780405"/>
            <a:ext cx="622999" cy="351870"/>
            <a:chOff x="0" y="0"/>
            <a:chExt cx="1387983" cy="784032"/>
          </a:xfrm>
        </p:grpSpPr>
        <p:sp>
          <p:nvSpPr>
            <p:cNvPr name="Freeform 30" id="30"/>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3A58E4"/>
            </a:solidFill>
          </p:spPr>
        </p:sp>
        <p:sp>
          <p:nvSpPr>
            <p:cNvPr name="TextBox 31" id="31"/>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5400000">
            <a:off x="12179518" y="5004756"/>
            <a:ext cx="622999" cy="351870"/>
            <a:chOff x="0" y="0"/>
            <a:chExt cx="1387983" cy="784032"/>
          </a:xfrm>
        </p:grpSpPr>
        <p:sp>
          <p:nvSpPr>
            <p:cNvPr name="Freeform 33" id="33"/>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6984FE"/>
            </a:solidFill>
          </p:spPr>
        </p:sp>
        <p:sp>
          <p:nvSpPr>
            <p:cNvPr name="TextBox 34" id="34"/>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5" id="35"/>
          <p:cNvGrpSpPr/>
          <p:nvPr/>
        </p:nvGrpSpPr>
        <p:grpSpPr>
          <a:xfrm rot="0">
            <a:off x="3269864" y="4522632"/>
            <a:ext cx="2135924" cy="1761666"/>
            <a:chOff x="0" y="0"/>
            <a:chExt cx="2847898" cy="2348888"/>
          </a:xfrm>
        </p:grpSpPr>
        <p:sp>
          <p:nvSpPr>
            <p:cNvPr name="TextBox 36" id="36"/>
            <p:cNvSpPr txBox="true"/>
            <p:nvPr/>
          </p:nvSpPr>
          <p:spPr>
            <a:xfrm rot="0">
              <a:off x="0" y="-38100"/>
              <a:ext cx="2847898" cy="723679"/>
            </a:xfrm>
            <a:prstGeom prst="rect">
              <a:avLst/>
            </a:prstGeom>
          </p:spPr>
          <p:txBody>
            <a:bodyPr anchor="t" rtlCol="false" tIns="0" lIns="0" bIns="0" rIns="0">
              <a:spAutoFit/>
            </a:bodyPr>
            <a:lstStyle/>
            <a:p>
              <a:pPr algn="just" marL="0" indent="0" lvl="0">
                <a:lnSpc>
                  <a:spcPts val="2168"/>
                </a:lnSpc>
              </a:pPr>
              <a:r>
                <a:rPr lang="en-US" b="true" sz="1681" spc="-5">
                  <a:solidFill>
                    <a:srgbClr val="FFFFFF"/>
                  </a:solidFill>
                  <a:latin typeface="Poppins Bold"/>
                  <a:ea typeface="Poppins Bold"/>
                  <a:cs typeface="Poppins Bold"/>
                  <a:sym typeface="Poppins Bold"/>
                </a:rPr>
                <a:t>CLASSIFICATION</a:t>
              </a:r>
            </a:p>
            <a:p>
              <a:pPr algn="just" marL="0" indent="0" lvl="0">
                <a:lnSpc>
                  <a:spcPts val="2168"/>
                </a:lnSpc>
              </a:pPr>
              <a:r>
                <a:rPr lang="en-US" b="true" sz="1681" spc="-5">
                  <a:solidFill>
                    <a:srgbClr val="FFFFFF"/>
                  </a:solidFill>
                  <a:latin typeface="Poppins Bold"/>
                  <a:ea typeface="Poppins Bold"/>
                  <a:cs typeface="Poppins Bold"/>
                  <a:sym typeface="Poppins Bold"/>
                </a:rPr>
                <a:t>MODELS</a:t>
              </a:r>
            </a:p>
          </p:txBody>
        </p:sp>
        <p:sp>
          <p:nvSpPr>
            <p:cNvPr name="TextBox 37" id="37"/>
            <p:cNvSpPr txBox="true"/>
            <p:nvPr/>
          </p:nvSpPr>
          <p:spPr>
            <a:xfrm rot="0">
              <a:off x="0" y="972949"/>
              <a:ext cx="2847898" cy="1375939"/>
            </a:xfrm>
            <a:prstGeom prst="rect">
              <a:avLst/>
            </a:prstGeom>
          </p:spPr>
          <p:txBody>
            <a:bodyPr anchor="t" rtlCol="false" tIns="0" lIns="0" bIns="0" rIns="0">
              <a:spAutoFit/>
            </a:bodyPr>
            <a:lstStyle/>
            <a:p>
              <a:pPr algn="just" marL="0" indent="0" lvl="0">
                <a:lnSpc>
                  <a:spcPts val="2051"/>
                </a:lnSpc>
              </a:pPr>
              <a:r>
                <a:rPr lang="en-US" sz="1590" spc="-4">
                  <a:solidFill>
                    <a:srgbClr val="FFFFFF"/>
                  </a:solidFill>
                  <a:latin typeface="Poppins"/>
                  <a:ea typeface="Poppins"/>
                  <a:cs typeface="Poppins"/>
                  <a:sym typeface="Poppins"/>
                </a:rPr>
                <a:t>Random Forest, SVM, and Logistic Regression to predict movie ratings.</a:t>
              </a:r>
            </a:p>
          </p:txBody>
        </p:sp>
      </p:grpSp>
      <p:sp>
        <p:nvSpPr>
          <p:cNvPr name="TextBox 38" id="38"/>
          <p:cNvSpPr txBox="true"/>
          <p:nvPr/>
        </p:nvSpPr>
        <p:spPr>
          <a:xfrm rot="0">
            <a:off x="4470562" y="7518972"/>
            <a:ext cx="1445813"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01</a:t>
            </a:r>
          </a:p>
        </p:txBody>
      </p:sp>
      <p:grpSp>
        <p:nvGrpSpPr>
          <p:cNvPr name="Group 39" id="39"/>
          <p:cNvGrpSpPr/>
          <p:nvPr/>
        </p:nvGrpSpPr>
        <p:grpSpPr>
          <a:xfrm rot="0">
            <a:off x="6473980" y="6829074"/>
            <a:ext cx="2135924" cy="1761666"/>
            <a:chOff x="0" y="0"/>
            <a:chExt cx="2847898" cy="2348888"/>
          </a:xfrm>
        </p:grpSpPr>
        <p:sp>
          <p:nvSpPr>
            <p:cNvPr name="TextBox 40" id="40"/>
            <p:cNvSpPr txBox="true"/>
            <p:nvPr/>
          </p:nvSpPr>
          <p:spPr>
            <a:xfrm rot="0">
              <a:off x="0" y="-38100"/>
              <a:ext cx="2847898" cy="723679"/>
            </a:xfrm>
            <a:prstGeom prst="rect">
              <a:avLst/>
            </a:prstGeom>
          </p:spPr>
          <p:txBody>
            <a:bodyPr anchor="t" rtlCol="false" tIns="0" lIns="0" bIns="0" rIns="0">
              <a:spAutoFit/>
            </a:bodyPr>
            <a:lstStyle/>
            <a:p>
              <a:pPr algn="just" marL="0" indent="0" lvl="0">
                <a:lnSpc>
                  <a:spcPts val="2168"/>
                </a:lnSpc>
              </a:pPr>
              <a:r>
                <a:rPr lang="en-US" b="true" sz="1681" spc="-5">
                  <a:solidFill>
                    <a:srgbClr val="FFFFFF"/>
                  </a:solidFill>
                  <a:latin typeface="Poppins Bold"/>
                  <a:ea typeface="Poppins Bold"/>
                  <a:cs typeface="Poppins Bold"/>
                  <a:sym typeface="Poppins Bold"/>
                </a:rPr>
                <a:t>CLUSTERING ANALYSIS</a:t>
              </a:r>
            </a:p>
          </p:txBody>
        </p:sp>
        <p:sp>
          <p:nvSpPr>
            <p:cNvPr name="TextBox 41" id="41"/>
            <p:cNvSpPr txBox="true"/>
            <p:nvPr/>
          </p:nvSpPr>
          <p:spPr>
            <a:xfrm rot="0">
              <a:off x="0" y="972949"/>
              <a:ext cx="2847898" cy="1375939"/>
            </a:xfrm>
            <a:prstGeom prst="rect">
              <a:avLst/>
            </a:prstGeom>
          </p:spPr>
          <p:txBody>
            <a:bodyPr anchor="t" rtlCol="false" tIns="0" lIns="0" bIns="0" rIns="0">
              <a:spAutoFit/>
            </a:bodyPr>
            <a:lstStyle/>
            <a:p>
              <a:pPr algn="just" marL="0" indent="0" lvl="0">
                <a:lnSpc>
                  <a:spcPts val="2051"/>
                </a:lnSpc>
              </a:pPr>
              <a:r>
                <a:rPr lang="en-US" sz="1590" spc="-4">
                  <a:solidFill>
                    <a:srgbClr val="FFFFFF"/>
                  </a:solidFill>
                  <a:latin typeface="Poppins"/>
                  <a:ea typeface="Poppins"/>
                  <a:cs typeface="Poppins"/>
                  <a:sym typeface="Poppins"/>
                </a:rPr>
                <a:t>K-Means clustering to segment content into distinct categories.</a:t>
              </a:r>
            </a:p>
          </p:txBody>
        </p:sp>
      </p:grpSp>
      <p:sp>
        <p:nvSpPr>
          <p:cNvPr name="TextBox 42" id="42"/>
          <p:cNvSpPr txBox="true"/>
          <p:nvPr/>
        </p:nvSpPr>
        <p:spPr>
          <a:xfrm rot="0">
            <a:off x="7425798"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02</a:t>
            </a:r>
          </a:p>
        </p:txBody>
      </p:sp>
      <p:grpSp>
        <p:nvGrpSpPr>
          <p:cNvPr name="Group 43" id="43"/>
          <p:cNvGrpSpPr/>
          <p:nvPr/>
        </p:nvGrpSpPr>
        <p:grpSpPr>
          <a:xfrm rot="0">
            <a:off x="9681912" y="4779807"/>
            <a:ext cx="2135924" cy="1504491"/>
            <a:chOff x="0" y="0"/>
            <a:chExt cx="2847898" cy="2005988"/>
          </a:xfrm>
        </p:grpSpPr>
        <p:sp>
          <p:nvSpPr>
            <p:cNvPr name="TextBox 44" id="44"/>
            <p:cNvSpPr txBox="true"/>
            <p:nvPr/>
          </p:nvSpPr>
          <p:spPr>
            <a:xfrm rot="0">
              <a:off x="0" y="-38100"/>
              <a:ext cx="2847898" cy="723679"/>
            </a:xfrm>
            <a:prstGeom prst="rect">
              <a:avLst/>
            </a:prstGeom>
          </p:spPr>
          <p:txBody>
            <a:bodyPr anchor="t" rtlCol="false" tIns="0" lIns="0" bIns="0" rIns="0">
              <a:spAutoFit/>
            </a:bodyPr>
            <a:lstStyle/>
            <a:p>
              <a:pPr algn="just" marL="0" indent="0" lvl="0">
                <a:lnSpc>
                  <a:spcPts val="2168"/>
                </a:lnSpc>
              </a:pPr>
              <a:r>
                <a:rPr lang="en-US" b="true" sz="1681" spc="-5">
                  <a:solidFill>
                    <a:srgbClr val="FFFFFF"/>
                  </a:solidFill>
                  <a:latin typeface="Poppins Bold"/>
                  <a:ea typeface="Poppins Bold"/>
                  <a:cs typeface="Poppins Bold"/>
                  <a:sym typeface="Poppins Bold"/>
                </a:rPr>
                <a:t>FORECASTING</a:t>
              </a:r>
            </a:p>
            <a:p>
              <a:pPr algn="just" marL="0" indent="0" lvl="0">
                <a:lnSpc>
                  <a:spcPts val="2168"/>
                </a:lnSpc>
              </a:pPr>
              <a:r>
                <a:rPr lang="en-US" b="true" sz="1681" spc="-5">
                  <a:solidFill>
                    <a:srgbClr val="FFFFFF"/>
                  </a:solidFill>
                  <a:latin typeface="Poppins Bold"/>
                  <a:ea typeface="Poppins Bold"/>
                  <a:cs typeface="Poppins Bold"/>
                  <a:sym typeface="Poppins Bold"/>
                </a:rPr>
                <a:t>MODELS</a:t>
              </a:r>
            </a:p>
          </p:txBody>
        </p:sp>
        <p:sp>
          <p:nvSpPr>
            <p:cNvPr name="TextBox 45" id="45"/>
            <p:cNvSpPr txBox="true"/>
            <p:nvPr/>
          </p:nvSpPr>
          <p:spPr>
            <a:xfrm rot="0">
              <a:off x="0" y="972949"/>
              <a:ext cx="2847898" cy="1033039"/>
            </a:xfrm>
            <a:prstGeom prst="rect">
              <a:avLst/>
            </a:prstGeom>
          </p:spPr>
          <p:txBody>
            <a:bodyPr anchor="t" rtlCol="false" tIns="0" lIns="0" bIns="0" rIns="0">
              <a:spAutoFit/>
            </a:bodyPr>
            <a:lstStyle/>
            <a:p>
              <a:pPr algn="just" marL="0" indent="0" lvl="0">
                <a:lnSpc>
                  <a:spcPts val="2051"/>
                </a:lnSpc>
              </a:pPr>
              <a:r>
                <a:rPr lang="en-US" sz="1590" spc="-4">
                  <a:solidFill>
                    <a:srgbClr val="FFFFFF"/>
                  </a:solidFill>
                  <a:latin typeface="Poppins"/>
                  <a:ea typeface="Poppins"/>
                  <a:cs typeface="Poppins"/>
                  <a:sym typeface="Poppins"/>
                </a:rPr>
                <a:t>ARIMA and Prophet for predicting future viewing trends.</a:t>
              </a:r>
            </a:p>
          </p:txBody>
        </p:sp>
      </p:grpSp>
      <p:sp>
        <p:nvSpPr>
          <p:cNvPr name="TextBox 46" id="46"/>
          <p:cNvSpPr txBox="true"/>
          <p:nvPr/>
        </p:nvSpPr>
        <p:spPr>
          <a:xfrm rot="0">
            <a:off x="10617138" y="7518972"/>
            <a:ext cx="1711285"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03</a:t>
            </a:r>
          </a:p>
        </p:txBody>
      </p:sp>
      <p:grpSp>
        <p:nvGrpSpPr>
          <p:cNvPr name="Group 47" id="47"/>
          <p:cNvGrpSpPr/>
          <p:nvPr/>
        </p:nvGrpSpPr>
        <p:grpSpPr>
          <a:xfrm rot="0">
            <a:off x="12886027" y="6829074"/>
            <a:ext cx="2135924" cy="1761666"/>
            <a:chOff x="0" y="0"/>
            <a:chExt cx="2847898" cy="2348888"/>
          </a:xfrm>
        </p:grpSpPr>
        <p:sp>
          <p:nvSpPr>
            <p:cNvPr name="TextBox 48" id="48"/>
            <p:cNvSpPr txBox="true"/>
            <p:nvPr/>
          </p:nvSpPr>
          <p:spPr>
            <a:xfrm rot="0">
              <a:off x="0" y="-38100"/>
              <a:ext cx="2847898" cy="723679"/>
            </a:xfrm>
            <a:prstGeom prst="rect">
              <a:avLst/>
            </a:prstGeom>
          </p:spPr>
          <p:txBody>
            <a:bodyPr anchor="t" rtlCol="false" tIns="0" lIns="0" bIns="0" rIns="0">
              <a:spAutoFit/>
            </a:bodyPr>
            <a:lstStyle/>
            <a:p>
              <a:pPr algn="just" marL="0" indent="0" lvl="0">
                <a:lnSpc>
                  <a:spcPts val="2168"/>
                </a:lnSpc>
              </a:pPr>
              <a:r>
                <a:rPr lang="en-US" b="true" sz="1681" spc="-5">
                  <a:solidFill>
                    <a:srgbClr val="FFFFFF"/>
                  </a:solidFill>
                  <a:latin typeface="Poppins Bold"/>
                  <a:ea typeface="Poppins Bold"/>
                  <a:cs typeface="Poppins Bold"/>
                  <a:sym typeface="Poppins Bold"/>
                </a:rPr>
                <a:t>MODEL</a:t>
              </a:r>
            </a:p>
            <a:p>
              <a:pPr algn="just" marL="0" indent="0" lvl="0">
                <a:lnSpc>
                  <a:spcPts val="2168"/>
                </a:lnSpc>
              </a:pPr>
              <a:r>
                <a:rPr lang="en-US" b="true" sz="1681" spc="-5">
                  <a:solidFill>
                    <a:srgbClr val="FFFFFF"/>
                  </a:solidFill>
                  <a:latin typeface="Poppins Bold"/>
                  <a:ea typeface="Poppins Bold"/>
                  <a:cs typeface="Poppins Bold"/>
                  <a:sym typeface="Poppins Bold"/>
                </a:rPr>
                <a:t>EVALUATION</a:t>
              </a:r>
            </a:p>
          </p:txBody>
        </p:sp>
        <p:sp>
          <p:nvSpPr>
            <p:cNvPr name="TextBox 49" id="49"/>
            <p:cNvSpPr txBox="true"/>
            <p:nvPr/>
          </p:nvSpPr>
          <p:spPr>
            <a:xfrm rot="0">
              <a:off x="0" y="972949"/>
              <a:ext cx="2847898" cy="1375939"/>
            </a:xfrm>
            <a:prstGeom prst="rect">
              <a:avLst/>
            </a:prstGeom>
          </p:spPr>
          <p:txBody>
            <a:bodyPr anchor="t" rtlCol="false" tIns="0" lIns="0" bIns="0" rIns="0">
              <a:spAutoFit/>
            </a:bodyPr>
            <a:lstStyle/>
            <a:p>
              <a:pPr algn="just" marL="0" indent="0" lvl="0">
                <a:lnSpc>
                  <a:spcPts val="2051"/>
                </a:lnSpc>
              </a:pPr>
              <a:r>
                <a:rPr lang="en-US" sz="1590" spc="-4">
                  <a:solidFill>
                    <a:srgbClr val="FFFFFF"/>
                  </a:solidFill>
                  <a:latin typeface="Poppins"/>
                  <a:ea typeface="Poppins"/>
                  <a:cs typeface="Poppins"/>
                  <a:sym typeface="Poppins"/>
                </a:rPr>
                <a:t>Cross-validation and performance metrics to assess model accuracy.</a:t>
              </a:r>
            </a:p>
          </p:txBody>
        </p:sp>
      </p:grpSp>
      <p:sp>
        <p:nvSpPr>
          <p:cNvPr name="TextBox 50" id="50"/>
          <p:cNvSpPr txBox="true"/>
          <p:nvPr/>
        </p:nvSpPr>
        <p:spPr>
          <a:xfrm rot="0">
            <a:off x="13837845"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238327"/>
              <a:ext cx="11773903" cy="267335"/>
            </a:xfrm>
            <a:prstGeom prst="rect">
              <a:avLst/>
            </a:prstGeom>
          </p:spPr>
          <p:txBody>
            <a:bodyPr anchor="t" rtlCol="false" tIns="0" lIns="0" bIns="0" rIns="0">
              <a:spAutoFit/>
            </a:bodyPr>
            <a:lstStyle/>
            <a:p>
              <a:pPr algn="l" marL="0" indent="0" lvl="0">
                <a:lnSpc>
                  <a:spcPts val="1679"/>
                </a:lnSpc>
              </a:pPr>
              <a:r>
                <a:rPr lang="en-US" b="true" sz="1200" spc="-3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PERFORMANCE METRICS AND CLASS DISTRIBUTION FROM OUR CLASSIFICATION MODEL</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490508"/>
            <a:ext cx="1849954" cy="1357658"/>
            <a:chOff x="0" y="0"/>
            <a:chExt cx="2466605" cy="1810211"/>
          </a:xfrm>
        </p:grpSpPr>
        <p:grpSp>
          <p:nvGrpSpPr>
            <p:cNvPr name="Group 9" id="9"/>
            <p:cNvGrpSpPr/>
            <p:nvPr/>
          </p:nvGrpSpPr>
          <p:grpSpPr>
            <a:xfrm rot="0">
              <a:off x="0" y="0"/>
              <a:ext cx="2466605" cy="1810211"/>
              <a:chOff x="0" y="0"/>
              <a:chExt cx="787566" cy="577985"/>
            </a:xfrm>
          </p:grpSpPr>
          <p:sp>
            <p:nvSpPr>
              <p:cNvPr name="Freeform 10" id="10"/>
              <p:cNvSpPr/>
              <p:nvPr/>
            </p:nvSpPr>
            <p:spPr>
              <a:xfrm flipH="false" flipV="false" rot="0">
                <a:off x="0" y="0"/>
                <a:ext cx="787566" cy="577985"/>
              </a:xfrm>
              <a:custGeom>
                <a:avLst/>
                <a:gdLst/>
                <a:ahLst/>
                <a:cxnLst/>
                <a:rect r="r" b="b" t="t" l="l"/>
                <a:pathLst>
                  <a:path h="577985" w="787566">
                    <a:moveTo>
                      <a:pt x="0" y="0"/>
                    </a:moveTo>
                    <a:lnTo>
                      <a:pt x="787566" y="0"/>
                    </a:lnTo>
                    <a:lnTo>
                      <a:pt x="787566" y="577985"/>
                    </a:lnTo>
                    <a:lnTo>
                      <a:pt x="0" y="57798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6160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27374"/>
              <a:ext cx="1828278" cy="612613"/>
            </a:xfrm>
            <a:prstGeom prst="rect">
              <a:avLst/>
            </a:prstGeom>
          </p:spPr>
          <p:txBody>
            <a:bodyPr anchor="t" rtlCol="false" tIns="0" lIns="0" bIns="0" rIns="0">
              <a:spAutoFit/>
            </a:bodyPr>
            <a:lstStyle/>
            <a:p>
              <a:pPr algn="ctr" marL="0" indent="0" lvl="0">
                <a:lnSpc>
                  <a:spcPts val="3253"/>
                </a:lnSpc>
              </a:pPr>
              <a:r>
                <a:rPr lang="en-US" sz="3319" spc="-212">
                  <a:solidFill>
                    <a:srgbClr val="FFFFFF"/>
                  </a:solidFill>
                  <a:latin typeface="Bricolage Grotesque"/>
                  <a:ea typeface="Bricolage Grotesque"/>
                  <a:cs typeface="Bricolage Grotesque"/>
                  <a:sym typeface="Bricolage Grotesque"/>
                </a:rPr>
                <a:t>05</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197452" y="174137"/>
            <a:ext cx="6165930" cy="4969363"/>
            <a:chOff x="0" y="0"/>
            <a:chExt cx="955264" cy="769884"/>
          </a:xfrm>
        </p:grpSpPr>
        <p:sp>
          <p:nvSpPr>
            <p:cNvPr name="Freeform 16" id="16"/>
            <p:cNvSpPr/>
            <p:nvPr/>
          </p:nvSpPr>
          <p:spPr>
            <a:xfrm flipH="false" flipV="false" rot="0">
              <a:off x="0" y="0"/>
              <a:ext cx="955264" cy="769884"/>
            </a:xfrm>
            <a:custGeom>
              <a:avLst/>
              <a:gdLst/>
              <a:ahLst/>
              <a:cxnLst/>
              <a:rect r="r" b="b" t="t" l="l"/>
              <a:pathLst>
                <a:path h="769884" w="955264">
                  <a:moveTo>
                    <a:pt x="0" y="0"/>
                  </a:moveTo>
                  <a:lnTo>
                    <a:pt x="955264" y="0"/>
                  </a:lnTo>
                  <a:lnTo>
                    <a:pt x="955264" y="769884"/>
                  </a:lnTo>
                  <a:lnTo>
                    <a:pt x="0" y="769884"/>
                  </a:lnTo>
                  <a:close/>
                </a:path>
              </a:pathLst>
            </a:custGeom>
            <a:blipFill>
              <a:blip r:embed="rId4"/>
              <a:stretch>
                <a:fillRect l="-58" t="0" r="-58" b="0"/>
              </a:stretch>
            </a:blipFill>
          </p:spPr>
        </p:sp>
      </p:grpSp>
      <p:sp>
        <p:nvSpPr>
          <p:cNvPr name="TextBox 17" id="17"/>
          <p:cNvSpPr txBox="true"/>
          <p:nvPr/>
        </p:nvSpPr>
        <p:spPr>
          <a:xfrm rot="0">
            <a:off x="8056208" y="2566782"/>
            <a:ext cx="7107541" cy="1161362"/>
          </a:xfrm>
          <a:prstGeom prst="rect">
            <a:avLst/>
          </a:prstGeom>
        </p:spPr>
        <p:txBody>
          <a:bodyPr anchor="t" rtlCol="false" tIns="0" lIns="0" bIns="0" rIns="0">
            <a:spAutoFit/>
          </a:bodyPr>
          <a:lstStyle/>
          <a:p>
            <a:pPr algn="l" marL="0" indent="0" lvl="0">
              <a:lnSpc>
                <a:spcPts val="4418"/>
              </a:lnSpc>
            </a:pPr>
            <a:r>
              <a:rPr lang="en-US" sz="4509" spc="-28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Rating</a:t>
            </a:r>
          </a:p>
          <a:p>
            <a:pPr algn="l" marL="0" indent="0" lvl="0">
              <a:lnSpc>
                <a:spcPts val="4418"/>
              </a:lnSpc>
            </a:pPr>
            <a:r>
              <a:rPr lang="en-US" sz="4509" spc="-28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Classification</a:t>
            </a:r>
          </a:p>
        </p:txBody>
      </p:sp>
      <p:sp>
        <p:nvSpPr>
          <p:cNvPr name="TextBox 18" id="18"/>
          <p:cNvSpPr txBox="true"/>
          <p:nvPr/>
        </p:nvSpPr>
        <p:spPr>
          <a:xfrm rot="0">
            <a:off x="7828142" y="7810647"/>
            <a:ext cx="9021242" cy="1255395"/>
          </a:xfrm>
          <a:prstGeom prst="rect">
            <a:avLst/>
          </a:prstGeom>
        </p:spPr>
        <p:txBody>
          <a:bodyPr anchor="t" rtlCol="false" tIns="0" lIns="0" bIns="0" rIns="0">
            <a:spAutoFit/>
          </a:bodyPr>
          <a:lstStyle/>
          <a:p>
            <a:pPr algn="just" marL="0" indent="0" lvl="0">
              <a:lnSpc>
                <a:spcPts val="1679"/>
              </a:lnSpc>
            </a:pPr>
            <a:r>
              <a:rPr lang="en-US" sz="1200" spc="-3">
                <a:solidFill>
                  <a:srgbClr val="3A58E4"/>
                </a:solidFill>
                <a:latin typeface="Poppins"/>
                <a:ea typeface="Poppins"/>
                <a:cs typeface="Poppins"/>
                <a:sym typeface="Poppins"/>
              </a:rPr>
              <a:t>Our classification model successfully categorized Netflix titles into rating classes (TV-MA, TV-14, TV-PG, TV-Y7, TV-Y). The model achieved strong performance in distinguishing mature content from family-friendly titles. Key findings include: TV-MA ratings were most prevalent in the dataset, accounting for the largest segment of content. The model demonstrated high accuracy in identifying mature-rated content with minimal false positives. Class distribution analysis revealed interesting patterns in content categorization that align with Netflix's programming strategy across different genres and regions.</a:t>
            </a:r>
          </a:p>
        </p:txBody>
      </p:sp>
      <p:sp>
        <p:nvSpPr>
          <p:cNvPr name="TextBox 19" id="19"/>
          <p:cNvSpPr txBox="true"/>
          <p:nvPr/>
        </p:nvSpPr>
        <p:spPr>
          <a:xfrm rot="0">
            <a:off x="1736067" y="8858397"/>
            <a:ext cx="3088700" cy="207645"/>
          </a:xfrm>
          <a:prstGeom prst="rect">
            <a:avLst/>
          </a:prstGeom>
        </p:spPr>
        <p:txBody>
          <a:bodyPr anchor="t" rtlCol="false" tIns="0" lIns="0" bIns="0" rIns="0">
            <a:spAutoFit/>
          </a:bodyPr>
          <a:lstStyle/>
          <a:p>
            <a:pPr algn="ctr" marL="0" indent="0" lvl="0">
              <a:lnSpc>
                <a:spcPts val="1679"/>
              </a:lnSpc>
            </a:pPr>
            <a:r>
              <a:rPr lang="en-US" sz="1200" spc="-3">
                <a:solidFill>
                  <a:srgbClr val="3A58E4"/>
                </a:solidFill>
                <a:latin typeface="Poppins"/>
                <a:ea typeface="Poppins"/>
                <a:cs typeface="Poppins"/>
                <a:sym typeface="Poppins"/>
              </a:rPr>
              <a:t>TV-MA titles dominate the catalog</a:t>
            </a:r>
          </a:p>
        </p:txBody>
      </p:sp>
      <p:sp>
        <p:nvSpPr>
          <p:cNvPr name="TextBox 20" id="20"/>
          <p:cNvSpPr txBox="true"/>
          <p:nvPr/>
        </p:nvSpPr>
        <p:spPr>
          <a:xfrm rot="0">
            <a:off x="722135" y="5750577"/>
            <a:ext cx="5116565" cy="2396430"/>
          </a:xfrm>
          <a:prstGeom prst="rect">
            <a:avLst/>
          </a:prstGeom>
        </p:spPr>
        <p:txBody>
          <a:bodyPr anchor="t" rtlCol="false" tIns="0" lIns="0" bIns="0" rIns="0">
            <a:spAutoFit/>
          </a:bodyPr>
          <a:lstStyle/>
          <a:p>
            <a:pPr algn="ctr" marL="0" indent="0" lvl="0">
              <a:lnSpc>
                <a:spcPts val="9663"/>
              </a:lnSpc>
              <a:spcBef>
                <a:spcPct val="0"/>
              </a:spcBef>
            </a:pPr>
            <a:r>
              <a:rPr lang="en-US" sz="6902" spc="-441">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High</a:t>
            </a:r>
          </a:p>
          <a:p>
            <a:pPr algn="ctr" marL="0" indent="0" lvl="0">
              <a:lnSpc>
                <a:spcPts val="9663"/>
              </a:lnSpc>
              <a:spcBef>
                <a:spcPct val="0"/>
              </a:spcBef>
            </a:pPr>
            <a:r>
              <a:rPr lang="en-US" sz="6902" spc="-441">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Accuracy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46860"/>
            <a:ext cx="1849954" cy="1801307"/>
            <a:chOff x="0" y="0"/>
            <a:chExt cx="2466605" cy="2401742"/>
          </a:xfrm>
        </p:grpSpPr>
        <p:grpSp>
          <p:nvGrpSpPr>
            <p:cNvPr name="Group 3" id="3"/>
            <p:cNvGrpSpPr/>
            <p:nvPr/>
          </p:nvGrpSpPr>
          <p:grpSpPr>
            <a:xfrm rot="0">
              <a:off x="0" y="0"/>
              <a:ext cx="2466605" cy="2401742"/>
              <a:chOff x="0" y="0"/>
              <a:chExt cx="787566" cy="766856"/>
            </a:xfrm>
          </p:grpSpPr>
          <p:sp>
            <p:nvSpPr>
              <p:cNvPr name="Freeform 4" id="4"/>
              <p:cNvSpPr/>
              <p:nvPr/>
            </p:nvSpPr>
            <p:spPr>
              <a:xfrm flipH="false" flipV="false" rot="0">
                <a:off x="0" y="0"/>
                <a:ext cx="787566" cy="766856"/>
              </a:xfrm>
              <a:custGeom>
                <a:avLst/>
                <a:gdLst/>
                <a:ahLst/>
                <a:cxnLst/>
                <a:rect r="r" b="b" t="t" l="l"/>
                <a:pathLst>
                  <a:path h="766856" w="787566">
                    <a:moveTo>
                      <a:pt x="0" y="0"/>
                    </a:moveTo>
                    <a:lnTo>
                      <a:pt x="787566" y="0"/>
                    </a:lnTo>
                    <a:lnTo>
                      <a:pt x="787566" y="766856"/>
                    </a:lnTo>
                    <a:lnTo>
                      <a:pt x="0" y="766856"/>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80495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94049"/>
              <a:ext cx="1828278" cy="1137469"/>
            </a:xfrm>
            <a:prstGeom prst="rect">
              <a:avLst/>
            </a:prstGeom>
          </p:spPr>
          <p:txBody>
            <a:bodyPr anchor="t" rtlCol="false" tIns="0" lIns="0" bIns="0" rIns="0">
              <a:spAutoFit/>
            </a:bodyPr>
            <a:lstStyle/>
            <a:p>
              <a:pPr algn="ctr" marL="0" indent="0" lvl="0">
                <a:lnSpc>
                  <a:spcPts val="6118"/>
                </a:lnSpc>
              </a:pPr>
              <a:r>
                <a:rPr lang="en-US" sz="6243" spc="-399">
                  <a:solidFill>
                    <a:srgbClr val="FFFFFF"/>
                  </a:solidFill>
                  <a:latin typeface="Bricolage Grotesque"/>
                  <a:ea typeface="Bricolage Grotesque"/>
                  <a:cs typeface="Bricolage Grotesque"/>
                  <a:sym typeface="Bricolage Grotesque"/>
                </a:rPr>
                <a:t>06</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17974"/>
              <a:ext cx="9378912" cy="523636"/>
            </a:xfrm>
            <a:prstGeom prst="rect">
              <a:avLst/>
            </a:prstGeom>
          </p:spPr>
          <p:txBody>
            <a:bodyPr anchor="t" rtlCol="false" tIns="0" lIns="0" bIns="0" rIns="0">
              <a:spAutoFit/>
            </a:bodyPr>
            <a:lstStyle/>
            <a:p>
              <a:pPr algn="l" marL="0" indent="0" lvl="0">
                <a:lnSpc>
                  <a:spcPts val="3159"/>
                </a:lnSpc>
              </a:pPr>
              <a:r>
                <a:rPr lang="en-US" b="true" sz="2257" spc="-5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CONTENT SEGMENTATION &amp; FORECASTING RESULTS</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5852341"/>
            <a:ext cx="1984104" cy="707651"/>
          </a:xfrm>
          <a:prstGeom prst="rect">
            <a:avLst/>
          </a:prstGeom>
        </p:spPr>
        <p:txBody>
          <a:bodyPr anchor="t" rtlCol="false" tIns="0" lIns="0" bIns="0" rIns="0">
            <a:spAutoFit/>
          </a:bodyPr>
          <a:lstStyle/>
          <a:p>
            <a:pPr algn="ctr" marL="0" indent="0" lvl="0">
              <a:lnSpc>
                <a:spcPts val="2759"/>
              </a:lnSpc>
            </a:pPr>
            <a:r>
              <a:rPr lang="en-US" b="true" sz="2139" spc="-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CONTENT CLUSTERS</a:t>
            </a:r>
          </a:p>
        </p:txBody>
      </p:sp>
      <p:sp>
        <p:nvSpPr>
          <p:cNvPr name="TextBox 23" id="23"/>
          <p:cNvSpPr txBox="true"/>
          <p:nvPr/>
        </p:nvSpPr>
        <p:spPr>
          <a:xfrm rot="0">
            <a:off x="2124549" y="6966284"/>
            <a:ext cx="2425450" cy="642044"/>
          </a:xfrm>
          <a:prstGeom prst="rect">
            <a:avLst/>
          </a:prstGeom>
        </p:spPr>
        <p:txBody>
          <a:bodyPr anchor="t" rtlCol="false" tIns="0" lIns="0" bIns="0" rIns="0">
            <a:spAutoFit/>
          </a:bodyPr>
          <a:lstStyle/>
          <a:p>
            <a:pPr algn="ctr" marL="0" indent="0" lvl="0">
              <a:lnSpc>
                <a:spcPts val="1713"/>
              </a:lnSpc>
            </a:pPr>
            <a:r>
              <a:rPr lang="en-US" sz="1328" spc="-3">
                <a:solidFill>
                  <a:srgbClr val="3A58E4"/>
                </a:solidFill>
                <a:latin typeface="Poppins"/>
                <a:ea typeface="Poppins"/>
                <a:cs typeface="Poppins"/>
                <a:sym typeface="Poppins"/>
              </a:rPr>
              <a:t>4 distinct content segments identified through clustering analysis</a:t>
            </a:r>
          </a:p>
        </p:txBody>
      </p:sp>
      <p:sp>
        <p:nvSpPr>
          <p:cNvPr name="TextBox 24" id="24"/>
          <p:cNvSpPr txBox="true"/>
          <p:nvPr/>
        </p:nvSpPr>
        <p:spPr>
          <a:xfrm rot="0">
            <a:off x="6215753" y="5852341"/>
            <a:ext cx="1984104" cy="707651"/>
          </a:xfrm>
          <a:prstGeom prst="rect">
            <a:avLst/>
          </a:prstGeom>
        </p:spPr>
        <p:txBody>
          <a:bodyPr anchor="t" rtlCol="false" tIns="0" lIns="0" bIns="0" rIns="0">
            <a:spAutoFit/>
          </a:bodyPr>
          <a:lstStyle/>
          <a:p>
            <a:pPr algn="ctr" marL="0" indent="0" lvl="0">
              <a:lnSpc>
                <a:spcPts val="2759"/>
              </a:lnSpc>
            </a:pPr>
            <a:r>
              <a:rPr lang="en-US" b="true" sz="2139" spc="-6">
                <a:solidFill>
                  <a:srgbClr val="FFFFFF"/>
                </a:solidFill>
                <a:latin typeface="Poppins Bold"/>
                <a:ea typeface="Poppins Bold"/>
                <a:cs typeface="Poppins Bold"/>
                <a:sym typeface="Poppins Bold"/>
              </a:rPr>
              <a:t>SEGMENT PROFILES</a:t>
            </a:r>
          </a:p>
        </p:txBody>
      </p:sp>
      <p:sp>
        <p:nvSpPr>
          <p:cNvPr name="TextBox 25" id="25"/>
          <p:cNvSpPr txBox="true"/>
          <p:nvPr/>
        </p:nvSpPr>
        <p:spPr>
          <a:xfrm rot="0">
            <a:off x="5995080" y="6966284"/>
            <a:ext cx="2425450" cy="642044"/>
          </a:xfrm>
          <a:prstGeom prst="rect">
            <a:avLst/>
          </a:prstGeom>
        </p:spPr>
        <p:txBody>
          <a:bodyPr anchor="t" rtlCol="false" tIns="0" lIns="0" bIns="0" rIns="0">
            <a:spAutoFit/>
          </a:bodyPr>
          <a:lstStyle/>
          <a:p>
            <a:pPr algn="ctr" marL="0" indent="0" lvl="0">
              <a:lnSpc>
                <a:spcPts val="1713"/>
              </a:lnSpc>
            </a:pPr>
            <a:r>
              <a:rPr lang="en-US" sz="1328" spc="-3">
                <a:solidFill>
                  <a:srgbClr val="FFFFFF"/>
                </a:solidFill>
                <a:latin typeface="Poppins"/>
                <a:ea typeface="Poppins"/>
                <a:cs typeface="Poppins"/>
                <a:sym typeface="Poppins"/>
              </a:rPr>
              <a:t>Each segment characterized by unique genre, rating, and popularity patterns</a:t>
            </a:r>
          </a:p>
        </p:txBody>
      </p:sp>
      <p:sp>
        <p:nvSpPr>
          <p:cNvPr name="TextBox 26" id="26"/>
          <p:cNvSpPr txBox="true"/>
          <p:nvPr/>
        </p:nvSpPr>
        <p:spPr>
          <a:xfrm rot="0">
            <a:off x="9901910" y="5852341"/>
            <a:ext cx="2354710" cy="707651"/>
          </a:xfrm>
          <a:prstGeom prst="rect">
            <a:avLst/>
          </a:prstGeom>
        </p:spPr>
        <p:txBody>
          <a:bodyPr anchor="t" rtlCol="false" tIns="0" lIns="0" bIns="0" rIns="0">
            <a:spAutoFit/>
          </a:bodyPr>
          <a:lstStyle/>
          <a:p>
            <a:pPr algn="ctr" marL="0" indent="0" lvl="0">
              <a:lnSpc>
                <a:spcPts val="2759"/>
              </a:lnSpc>
            </a:pPr>
            <a:r>
              <a:rPr lang="en-US" b="true" sz="2139" spc="-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FORECASTING MODEL</a:t>
            </a:r>
          </a:p>
        </p:txBody>
      </p:sp>
      <p:sp>
        <p:nvSpPr>
          <p:cNvPr name="TextBox 27" id="27"/>
          <p:cNvSpPr txBox="true"/>
          <p:nvPr/>
        </p:nvSpPr>
        <p:spPr>
          <a:xfrm rot="0">
            <a:off x="9866540" y="6966284"/>
            <a:ext cx="2425450" cy="642044"/>
          </a:xfrm>
          <a:prstGeom prst="rect">
            <a:avLst/>
          </a:prstGeom>
        </p:spPr>
        <p:txBody>
          <a:bodyPr anchor="t" rtlCol="false" tIns="0" lIns="0" bIns="0" rIns="0">
            <a:spAutoFit/>
          </a:bodyPr>
          <a:lstStyle/>
          <a:p>
            <a:pPr algn="ctr" marL="0" indent="0" lvl="0">
              <a:lnSpc>
                <a:spcPts val="1713"/>
              </a:lnSpc>
            </a:pPr>
            <a:r>
              <a:rPr lang="en-US" sz="1328" spc="-3">
                <a:solidFill>
                  <a:srgbClr val="3A58E4"/>
                </a:solidFill>
                <a:latin typeface="Poppins"/>
                <a:ea typeface="Poppins"/>
                <a:cs typeface="Poppins"/>
                <a:sym typeface="Poppins"/>
              </a:rPr>
              <a:t>Time series forecasting applied to predict future content performance</a:t>
            </a:r>
          </a:p>
        </p:txBody>
      </p:sp>
      <p:sp>
        <p:nvSpPr>
          <p:cNvPr name="TextBox 28" id="28"/>
          <p:cNvSpPr txBox="true"/>
          <p:nvPr/>
        </p:nvSpPr>
        <p:spPr>
          <a:xfrm rot="0">
            <a:off x="13958674" y="6199341"/>
            <a:ext cx="1984104" cy="360651"/>
          </a:xfrm>
          <a:prstGeom prst="rect">
            <a:avLst/>
          </a:prstGeom>
        </p:spPr>
        <p:txBody>
          <a:bodyPr anchor="t" rtlCol="false" tIns="0" lIns="0" bIns="0" rIns="0">
            <a:spAutoFit/>
          </a:bodyPr>
          <a:lstStyle/>
          <a:p>
            <a:pPr algn="ctr" marL="0" indent="0" lvl="0">
              <a:lnSpc>
                <a:spcPts val="2759"/>
              </a:lnSpc>
            </a:pPr>
            <a:r>
              <a:rPr lang="en-US" b="true" sz="2139" spc="-6">
                <a:solidFill>
                  <a:srgbClr val="FFFFFF"/>
                </a:solidFill>
                <a:latin typeface="Poppins Bold"/>
                <a:ea typeface="Poppins Bold"/>
                <a:cs typeface="Poppins Bold"/>
                <a:sym typeface="Poppins Bold"/>
              </a:rPr>
              <a:t>KEY INSIGHTS</a:t>
            </a:r>
          </a:p>
        </p:txBody>
      </p:sp>
      <p:sp>
        <p:nvSpPr>
          <p:cNvPr name="TextBox 29" id="29"/>
          <p:cNvSpPr txBox="true"/>
          <p:nvPr/>
        </p:nvSpPr>
        <p:spPr>
          <a:xfrm rot="0">
            <a:off x="13738001" y="6966284"/>
            <a:ext cx="2425450" cy="642044"/>
          </a:xfrm>
          <a:prstGeom prst="rect">
            <a:avLst/>
          </a:prstGeom>
        </p:spPr>
        <p:txBody>
          <a:bodyPr anchor="t" rtlCol="false" tIns="0" lIns="0" bIns="0" rIns="0">
            <a:spAutoFit/>
          </a:bodyPr>
          <a:lstStyle/>
          <a:p>
            <a:pPr algn="ctr" marL="0" indent="0" lvl="0">
              <a:lnSpc>
                <a:spcPts val="1713"/>
              </a:lnSpc>
            </a:pPr>
            <a:r>
              <a:rPr lang="en-US" sz="1328" spc="-3">
                <a:solidFill>
                  <a:srgbClr val="FFFFFF"/>
                </a:solidFill>
                <a:latin typeface="Poppins"/>
                <a:ea typeface="Poppins"/>
                <a:cs typeface="Poppins"/>
                <a:sym typeface="Poppins"/>
              </a:rPr>
              <a:t>Trend analysis reveals content popularity patterns across segments</a:t>
            </a:r>
          </a:p>
        </p:txBody>
      </p:sp>
      <p:grpSp>
        <p:nvGrpSpPr>
          <p:cNvPr name="Group 30" id="30"/>
          <p:cNvGrpSpPr/>
          <p:nvPr/>
        </p:nvGrpSpPr>
        <p:grpSpPr>
          <a:xfrm rot="0">
            <a:off x="4176506" y="4926023"/>
            <a:ext cx="746986" cy="747004"/>
            <a:chOff x="0" y="0"/>
            <a:chExt cx="995981" cy="996005"/>
          </a:xfrm>
        </p:grpSpPr>
        <p:grpSp>
          <p:nvGrpSpPr>
            <p:cNvPr name="Group 31" id="31"/>
            <p:cNvGrpSpPr/>
            <p:nvPr/>
          </p:nvGrpSpPr>
          <p:grpSpPr>
            <a:xfrm rot="0">
              <a:off x="0" y="0"/>
              <a:ext cx="995981" cy="996005"/>
              <a:chOff x="0" y="0"/>
              <a:chExt cx="812800" cy="812819"/>
            </a:xfrm>
          </p:grpSpPr>
          <p:sp>
            <p:nvSpPr>
              <p:cNvPr name="Freeform 32" id="3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01</a:t>
              </a:r>
            </a:p>
          </p:txBody>
        </p:sp>
      </p:grpSp>
      <p:grpSp>
        <p:nvGrpSpPr>
          <p:cNvPr name="Group 35" id="35"/>
          <p:cNvGrpSpPr/>
          <p:nvPr/>
        </p:nvGrpSpPr>
        <p:grpSpPr>
          <a:xfrm rot="0">
            <a:off x="8047037" y="4926023"/>
            <a:ext cx="746986" cy="747004"/>
            <a:chOff x="0" y="0"/>
            <a:chExt cx="995981" cy="996005"/>
          </a:xfrm>
        </p:grpSpPr>
        <p:grpSp>
          <p:nvGrpSpPr>
            <p:cNvPr name="Group 36" id="36"/>
            <p:cNvGrpSpPr/>
            <p:nvPr/>
          </p:nvGrpSpPr>
          <p:grpSpPr>
            <a:xfrm rot="0">
              <a:off x="0" y="0"/>
              <a:ext cx="995981" cy="996005"/>
              <a:chOff x="0" y="0"/>
              <a:chExt cx="812800" cy="812819"/>
            </a:xfrm>
          </p:grpSpPr>
          <p:sp>
            <p:nvSpPr>
              <p:cNvPr name="Freeform 37" id="3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4926023"/>
            <a:ext cx="746986" cy="747004"/>
            <a:chOff x="0" y="0"/>
            <a:chExt cx="995981" cy="996005"/>
          </a:xfrm>
        </p:grpSpPr>
        <p:grpSp>
          <p:nvGrpSpPr>
            <p:cNvPr name="Group 41" id="41"/>
            <p:cNvGrpSpPr/>
            <p:nvPr/>
          </p:nvGrpSpPr>
          <p:grpSpPr>
            <a:xfrm rot="0">
              <a:off x="0" y="0"/>
              <a:ext cx="995981" cy="996005"/>
              <a:chOff x="0" y="0"/>
              <a:chExt cx="812800" cy="812819"/>
            </a:xfrm>
          </p:grpSpPr>
          <p:sp>
            <p:nvSpPr>
              <p:cNvPr name="Freeform 42" id="4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03</a:t>
              </a:r>
            </a:p>
          </p:txBody>
        </p:sp>
      </p:grpSp>
      <p:grpSp>
        <p:nvGrpSpPr>
          <p:cNvPr name="Group 45" id="45"/>
          <p:cNvGrpSpPr/>
          <p:nvPr/>
        </p:nvGrpSpPr>
        <p:grpSpPr>
          <a:xfrm rot="0">
            <a:off x="15791068" y="4926023"/>
            <a:ext cx="746986" cy="747004"/>
            <a:chOff x="0" y="0"/>
            <a:chExt cx="995981" cy="996005"/>
          </a:xfrm>
        </p:grpSpPr>
        <p:grpSp>
          <p:nvGrpSpPr>
            <p:cNvPr name="Group 46" id="46"/>
            <p:cNvGrpSpPr/>
            <p:nvPr/>
          </p:nvGrpSpPr>
          <p:grpSpPr>
            <a:xfrm rot="0">
              <a:off x="0" y="0"/>
              <a:ext cx="995981" cy="996005"/>
              <a:chOff x="0" y="0"/>
              <a:chExt cx="812800" cy="812819"/>
            </a:xfrm>
          </p:grpSpPr>
          <p:sp>
            <p:nvSpPr>
              <p:cNvPr name="Freeform 47" id="4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787256"/>
            <a:ext cx="11560683" cy="1017804"/>
          </a:xfrm>
          <a:prstGeom prst="rect">
            <a:avLst/>
          </a:prstGeom>
        </p:spPr>
        <p:txBody>
          <a:bodyPr anchor="t" rtlCol="false" tIns="0" lIns="0" bIns="0" rIns="0">
            <a:spAutoFit/>
          </a:bodyPr>
          <a:lstStyle/>
          <a:p>
            <a:pPr algn="ctr" marL="0" indent="0" lvl="0">
              <a:lnSpc>
                <a:spcPts val="7635"/>
              </a:lnSpc>
            </a:pPr>
            <a:r>
              <a:rPr lang="en-US" sz="7791" spc="-49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Segmentation &amp; Forecasting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102839" y="1172167"/>
            <a:ext cx="1723707" cy="7673558"/>
            <a:chOff x="0" y="0"/>
            <a:chExt cx="2298277" cy="10231411"/>
          </a:xfrm>
        </p:grpSpPr>
        <p:sp>
          <p:nvSpPr>
            <p:cNvPr name="Freeform 6" id="6"/>
            <p:cNvSpPr/>
            <p:nvPr/>
          </p:nvSpPr>
          <p:spPr>
            <a:xfrm flipH="false" flipV="false" rot="0">
              <a:off x="651979" y="0"/>
              <a:ext cx="981294" cy="947395"/>
            </a:xfrm>
            <a:custGeom>
              <a:avLst/>
              <a:gdLst/>
              <a:ahLst/>
              <a:cxnLst/>
              <a:rect r="r" b="b" t="t" l="l"/>
              <a:pathLst>
                <a:path h="947395" w="981294">
                  <a:moveTo>
                    <a:pt x="0" y="0"/>
                  </a:moveTo>
                  <a:lnTo>
                    <a:pt x="981294" y="0"/>
                  </a:lnTo>
                  <a:lnTo>
                    <a:pt x="981294" y="947395"/>
                  </a:lnTo>
                  <a:lnTo>
                    <a:pt x="0" y="947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0" y="1253510"/>
              <a:ext cx="2272228" cy="299834"/>
            </a:xfrm>
            <a:prstGeom prst="rect">
              <a:avLst/>
            </a:prstGeom>
          </p:spPr>
          <p:txBody>
            <a:bodyPr anchor="t" rtlCol="false" tIns="0" lIns="0" bIns="0" rIns="0">
              <a:spAutoFit/>
            </a:bodyPr>
            <a:lstStyle/>
            <a:p>
              <a:pPr algn="ctr" marL="0" indent="0" lvl="0">
                <a:lnSpc>
                  <a:spcPts val="1610"/>
                </a:lnSpc>
              </a:pPr>
              <a:r>
                <a:rPr lang="en-US" b="true" sz="1505">
                  <a:solidFill>
                    <a:srgbClr val="FFFFFF"/>
                  </a:solidFill>
                  <a:latin typeface="Poppins Bold"/>
                  <a:ea typeface="Poppins Bold"/>
                  <a:cs typeface="Poppins Bold"/>
                  <a:sym typeface="Poppins Bold"/>
                </a:rPr>
                <a:t>Netflix</a:t>
              </a:r>
            </a:p>
          </p:txBody>
        </p:sp>
        <p:sp>
          <p:nvSpPr>
            <p:cNvPr name="TextBox 8" id="8"/>
            <p:cNvSpPr txBox="true"/>
            <p:nvPr/>
          </p:nvSpPr>
          <p:spPr>
            <a:xfrm rot="0">
              <a:off x="13024" y="1553343"/>
              <a:ext cx="2272228" cy="566534"/>
            </a:xfrm>
            <a:prstGeom prst="rect">
              <a:avLst/>
            </a:prstGeom>
          </p:spPr>
          <p:txBody>
            <a:bodyPr anchor="t" rtlCol="false" tIns="0" lIns="0" bIns="0" rIns="0">
              <a:spAutoFit/>
            </a:bodyPr>
            <a:lstStyle/>
            <a:p>
              <a:pPr algn="ctr" marL="0" indent="0" lvl="0">
                <a:lnSpc>
                  <a:spcPts val="1610"/>
                </a:lnSpc>
              </a:pPr>
              <a:r>
                <a:rPr lang="en-US" sz="1505">
                  <a:solidFill>
                    <a:srgbClr val="FFFFFF"/>
                  </a:solidFill>
                  <a:latin typeface="Poppins"/>
                  <a:ea typeface="Poppins"/>
                  <a:cs typeface="Poppins"/>
                  <a:sym typeface="Poppins"/>
                </a:rPr>
                <a:t>Catalog Intelligence</a:t>
              </a:r>
            </a:p>
          </p:txBody>
        </p:sp>
        <p:sp>
          <p:nvSpPr>
            <p:cNvPr name="TextBox 9" id="9"/>
            <p:cNvSpPr txBox="true"/>
            <p:nvPr/>
          </p:nvSpPr>
          <p:spPr>
            <a:xfrm rot="0">
              <a:off x="13024" y="9631744"/>
              <a:ext cx="2272228" cy="299834"/>
            </a:xfrm>
            <a:prstGeom prst="rect">
              <a:avLst/>
            </a:prstGeom>
          </p:spPr>
          <p:txBody>
            <a:bodyPr anchor="t" rtlCol="false" tIns="0" lIns="0" bIns="0" rIns="0">
              <a:spAutoFit/>
            </a:bodyPr>
            <a:lstStyle/>
            <a:p>
              <a:pPr algn="ctr" marL="0" indent="0" lvl="0">
                <a:lnSpc>
                  <a:spcPts val="1610"/>
                </a:lnSpc>
              </a:pPr>
              <a:r>
                <a:rPr lang="en-US" b="true" sz="1505">
                  <a:solidFill>
                    <a:srgbClr val="FFFFFF"/>
                  </a:solidFill>
                  <a:latin typeface="Poppins Bold"/>
                  <a:ea typeface="Poppins Bold"/>
                  <a:cs typeface="Poppins Bold"/>
                  <a:sym typeface="Poppins Bold"/>
                </a:rPr>
                <a:t>2023</a:t>
              </a:r>
            </a:p>
          </p:txBody>
        </p:sp>
        <p:sp>
          <p:nvSpPr>
            <p:cNvPr name="TextBox 10" id="10"/>
            <p:cNvSpPr txBox="true"/>
            <p:nvPr/>
          </p:nvSpPr>
          <p:spPr>
            <a:xfrm rot="0">
              <a:off x="26049" y="9931577"/>
              <a:ext cx="2272228" cy="299834"/>
            </a:xfrm>
            <a:prstGeom prst="rect">
              <a:avLst/>
            </a:prstGeom>
          </p:spPr>
          <p:txBody>
            <a:bodyPr anchor="t" rtlCol="false" tIns="0" lIns="0" bIns="0" rIns="0">
              <a:spAutoFit/>
            </a:bodyPr>
            <a:lstStyle/>
            <a:p>
              <a:pPr algn="ctr" marL="0" indent="0" lvl="0">
                <a:lnSpc>
                  <a:spcPts val="1610"/>
                </a:lnSpc>
              </a:pPr>
              <a:r>
                <a:rPr lang="en-US" sz="1505">
                  <a:solidFill>
                    <a:srgbClr val="FFFFFF"/>
                  </a:solidFill>
                  <a:latin typeface="Poppins"/>
                  <a:ea typeface="Poppins"/>
                  <a:cs typeface="Poppins"/>
                  <a:sym typeface="Poppins"/>
                </a:rPr>
                <a:t>Analysis</a:t>
              </a:r>
            </a:p>
          </p:txBody>
        </p:sp>
      </p:grpSp>
      <p:sp>
        <p:nvSpPr>
          <p:cNvPr name="Freeform 11" id="11"/>
          <p:cNvSpPr/>
          <p:nvPr/>
        </p:nvSpPr>
        <p:spPr>
          <a:xfrm flipH="false" flipV="false" rot="0">
            <a:off x="1028700" y="7308293"/>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28700" y="7988737"/>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28700" y="8673002"/>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8986465" y="0"/>
            <a:ext cx="4378150" cy="10287000"/>
            <a:chOff x="0" y="0"/>
            <a:chExt cx="678290" cy="1593725"/>
          </a:xfrm>
        </p:grpSpPr>
        <p:sp>
          <p:nvSpPr>
            <p:cNvPr name="Freeform 15" id="15"/>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10"/>
              <a:stretch>
                <a:fillRect l="0" t="-218" r="0" b="-218"/>
              </a:stretch>
            </a:blipFill>
          </p:spPr>
        </p:sp>
      </p:grpSp>
      <p:sp>
        <p:nvSpPr>
          <p:cNvPr name="AutoShape 16" id="16"/>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7" id="17"/>
          <p:cNvSpPr txBox="true"/>
          <p:nvPr/>
        </p:nvSpPr>
        <p:spPr>
          <a:xfrm rot="0">
            <a:off x="14650619" y="5707470"/>
            <a:ext cx="2628148" cy="1252075"/>
          </a:xfrm>
          <a:prstGeom prst="rect">
            <a:avLst/>
          </a:prstGeom>
        </p:spPr>
        <p:txBody>
          <a:bodyPr anchor="t" rtlCol="false" tIns="0" lIns="0" bIns="0" rIns="0">
            <a:spAutoFit/>
          </a:bodyPr>
          <a:lstStyle/>
          <a:p>
            <a:pPr algn="just" marL="0" indent="0" lvl="0">
              <a:lnSpc>
                <a:spcPts val="1680"/>
              </a:lnSpc>
            </a:pPr>
            <a:r>
              <a:rPr lang="en-US" sz="1200" spc="-3">
                <a:solidFill>
                  <a:srgbClr val="FFFFFF"/>
                </a:solidFill>
                <a:latin typeface="Poppins"/>
                <a:ea typeface="Poppins"/>
                <a:cs typeface="Poppins"/>
                <a:sym typeface="Poppins"/>
              </a:rPr>
              <a:t>Future Scope: Integration of real-time user behavior data, expanded genre classification, and deployment of predictive models for content recommendation optimization.</a:t>
            </a:r>
          </a:p>
        </p:txBody>
      </p:sp>
      <p:sp>
        <p:nvSpPr>
          <p:cNvPr name="TextBox 18" id="18"/>
          <p:cNvSpPr txBox="true"/>
          <p:nvPr/>
        </p:nvSpPr>
        <p:spPr>
          <a:xfrm rot="0">
            <a:off x="1638585" y="7334015"/>
            <a:ext cx="2891575" cy="534774"/>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Models: 3 algorithms tested</a:t>
            </a:r>
          </a:p>
        </p:txBody>
      </p:sp>
      <p:sp>
        <p:nvSpPr>
          <p:cNvPr name="TextBox 19" id="19"/>
          <p:cNvSpPr txBox="true"/>
          <p:nvPr/>
        </p:nvSpPr>
        <p:spPr>
          <a:xfrm rot="0">
            <a:off x="1638585" y="8001598"/>
            <a:ext cx="5248389" cy="274382"/>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Key Insight: Strong content segmentation</a:t>
            </a:r>
          </a:p>
        </p:txBody>
      </p:sp>
      <p:sp>
        <p:nvSpPr>
          <p:cNvPr name="TextBox 20" id="20"/>
          <p:cNvSpPr txBox="true"/>
          <p:nvPr/>
        </p:nvSpPr>
        <p:spPr>
          <a:xfrm rot="0">
            <a:off x="1638585" y="8698724"/>
            <a:ext cx="4805157" cy="274382"/>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Conclusion: Actionable catalog insights</a:t>
            </a:r>
          </a:p>
        </p:txBody>
      </p:sp>
      <p:sp>
        <p:nvSpPr>
          <p:cNvPr name="TextBox 21" id="21"/>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22" id="22"/>
          <p:cNvSpPr txBox="true"/>
          <p:nvPr/>
        </p:nvSpPr>
        <p:spPr>
          <a:xfrm rot="0">
            <a:off x="1028700" y="2287592"/>
            <a:ext cx="6671890" cy="2745930"/>
          </a:xfrm>
          <a:prstGeom prst="rect">
            <a:avLst/>
          </a:prstGeom>
        </p:spPr>
        <p:txBody>
          <a:bodyPr anchor="t" rtlCol="false" tIns="0" lIns="0" bIns="0" rIns="0">
            <a:spAutoFit/>
          </a:bodyPr>
          <a:lstStyle/>
          <a:p>
            <a:pPr algn="just" marL="0" indent="0" lvl="0">
              <a:lnSpc>
                <a:spcPts val="7111"/>
              </a:lnSpc>
            </a:pPr>
            <a:r>
              <a:rPr lang="en-US" sz="7256" spc="-46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 Insights &amp;</a:t>
            </a:r>
          </a:p>
          <a:p>
            <a:pPr algn="just" marL="0" indent="0" lvl="0">
              <a:lnSpc>
                <a:spcPts val="7111"/>
              </a:lnSpc>
            </a:pPr>
            <a:r>
              <a:rPr lang="en-US" sz="7256" spc="-46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Future Scope</a:t>
            </a:r>
          </a:p>
          <a:p>
            <a:pPr algn="just" marL="0" indent="0" lvl="0">
              <a:lnSpc>
                <a:spcPts val="7111"/>
              </a:lnSpc>
            </a:pPr>
            <a:r>
              <a:rPr lang="en-US" sz="7256" spc="-46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for Netflix Catalog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DAHWxAQ93wM</dc:identifier>
  <dcterms:modified xsi:type="dcterms:W3CDTF">2011-08-01T06:04:30Z</dcterms:modified>
  <cp:revision>1</cp:revision>
  <dc:title>Harsh singh</dc:title>
</cp:coreProperties>
</file>