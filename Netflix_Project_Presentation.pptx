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93C5FD"/>
                </a:solidFill>
                <a:latin typeface="Aptos"/>
              </a:defRPr>
            </a:pPr>
            <a:r>
              <a:t>NETFLIX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896112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70048"/>
            <a:ext cx="98755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Aptos"/>
              </a:defRPr>
            </a:pPr>
            <a:r>
              <a:t>Classification · segmentation · forecasting · automated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98932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Dataset-backed project presentation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199632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E293B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Observed catalog snapshot from the supplied Netflix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5486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NETFLIX CATALOG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2563EB"/>
                </a:solidFill>
                <a:latin typeface="Aptos Display"/>
              </a:defRPr>
            </a:pPr>
            <a:r>
              <a:t>8,786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Unique titles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41732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10B981"/>
                </a:solidFill>
                <a:latin typeface="Aptos Display"/>
              </a:defRPr>
            </a:pPr>
            <a:r>
              <a:t>69.7%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Movie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41732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F59E0B"/>
                </a:solidFill>
                <a:latin typeface="Aptos Display"/>
              </a:defRPr>
            </a:pPr>
            <a:r>
              <a:t>14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Ratings represented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41732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EF4444"/>
                </a:solidFill>
                <a:latin typeface="Aptos Display"/>
              </a:defRPr>
            </a:pPr>
            <a:r>
              <a:t>8,787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Catalog-add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71800"/>
            <a:ext cx="10424160" cy="2377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Original release years: 1925–2021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Observed date_added coverage: Jan 2008 to Sep 2021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Movies: 6,124  |  TV Shows: 2,663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Rating labels describe content suitability, not audience satisfaction or viewing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E293B"/>
                </a:solidFill>
                <a:latin typeface="Aptos"/>
              </a:defRPr>
            </a:pPr>
            <a:r>
              <a:t>Catalog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Genre and rating patterns are counted from the uploaded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5486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NETFLIX CATALOG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6" name="Picture 5" descr="report_top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92240" cy="4526280"/>
          </a:xfrm>
          <a:prstGeom prst="rect">
            <a:avLst/>
          </a:prstGeom>
        </p:spPr>
      </p:pic>
      <p:pic>
        <p:nvPicPr>
          <p:cNvPr id="7" name="Picture 6" descr="report_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298448"/>
            <a:ext cx="45262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916168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Aptos"/>
              </a:defRPr>
            </a:pPr>
            <a:r>
              <a:t>Largest genre group: International Movies (2,752 tagged titles).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E293B"/>
                </a:solidFill>
                <a:latin typeface="Aptos"/>
              </a:defRPr>
            </a:pPr>
            <a:r>
              <a:t>Rating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Stratified holdout evaluation · best measured model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5486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NETFLIX CATALOG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6" name="Picture 5" descr="report_ratin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731520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481328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2563EB"/>
                </a:solidFill>
                <a:latin typeface="Aptos Display"/>
              </a:defRPr>
            </a:pPr>
            <a:r>
              <a:t>XGBoost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74320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10B981"/>
                </a:solidFill>
                <a:latin typeface="Aptos Display"/>
              </a:defRPr>
            </a:pPr>
            <a:r>
              <a:t>0.538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4005072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F59E0B"/>
                </a:solidFill>
                <a:latin typeface="Aptos Display"/>
              </a:defRPr>
            </a:pPr>
            <a:r>
              <a:t>0.501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Weighted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321808"/>
            <a:ext cx="356616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6,590 train rows · 2,197 holdout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25312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target is the existing rating category, not content popularity.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E293B"/>
                </a:solidFill>
                <a:latin typeface="Aptos"/>
              </a:defRPr>
            </a:pPr>
            <a:r>
              <a:t>Content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KMeans selected by silhouette score · cluster profiles from encoded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5486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NETFLIX CATALOG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report_conten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681228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72768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10B981"/>
                </a:solidFill>
                <a:latin typeface="Aptos Display"/>
              </a:defRPr>
            </a:pPr>
            <a:r>
              <a:t>2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Selected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852928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2563EB"/>
                </a:solidFill>
                <a:latin typeface="Aptos Display"/>
              </a:defRPr>
            </a:pPr>
            <a:r>
              <a:t>0.291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Silhouette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133087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F59E0B"/>
                </a:solidFill>
                <a:latin typeface="Aptos Display"/>
              </a:defRPr>
            </a:pPr>
            <a:r>
              <a:t>45.0%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PCA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Clusters are exploratory groups, not official Netflix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E293B"/>
                </a:solidFill>
                <a:latin typeface="Aptos"/>
              </a:defRPr>
            </a:pPr>
            <a:r>
              <a:t>Catalog-add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Forecasts extend observed date_added history; they are not company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5486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NETFLIX CATALOG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report_releas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80160"/>
            <a:ext cx="740664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50876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2563EB"/>
                </a:solidFill>
                <a:latin typeface="Aptos Display"/>
              </a:defRPr>
            </a:pPr>
            <a:r>
              <a:t>Random forest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Best holdout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278892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10B981"/>
                </a:solidFill>
                <a:latin typeface="Aptos Display"/>
              </a:defRPr>
            </a:pPr>
            <a:r>
              <a:t>40.88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4069080"/>
            <a:ext cx="2560320" cy="107899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2300" b="1">
                <a:solidFill>
                  <a:srgbClr val="F59E0B"/>
                </a:solidFill>
                <a:latin typeface="Aptos Display"/>
              </a:defRPr>
            </a:pPr>
            <a:r>
              <a:t>31.76</a:t>
            </a:r>
          </a:p>
          <a:p>
            <a:pPr>
              <a:defRPr sz="1000">
                <a:solidFill>
                  <a:srgbClr val="1E293B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5394960"/>
            <a:ext cx="33832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R² -0.028 · chronological holdout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E293B"/>
                </a:solidFill>
                <a:latin typeface="Aptos"/>
              </a:defRPr>
            </a:pPr>
            <a:r>
              <a:t>Insights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Automated findings with interpretation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5486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NETFLIX CATALOG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789920" cy="2926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International Movies is the largest genre group with 2,752 tagged titles.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Movie is the most common format (69.7% of the catalog).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TV-MA is the most frequent audience rating (3,205 titles).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United States appears most often in country credits (3,240 titles).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International Movies grew fastest across the observed catalog-add periods (+68600.0%).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Catalog additions changed -20.3% from 2020 to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70832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900" b="1">
                <a:solidFill>
                  <a:srgbClr val="2563E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736592"/>
            <a:ext cx="10515600" cy="1188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Negative forecast R² means the model did not beat the holdout mean baseline.</a:t>
            </a:r>
          </a:p>
          <a:p>
            <a:pPr>
              <a:spcAft>
                <a:spcPts val="13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Catalog-add forecasts are extrapolations, not Netflix plans.</a:t>
            </a:r>
          </a:p>
          <a:p>
            <a:pPr>
              <a:spcAft>
                <a:spcPts val="13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Add licensed viewing outcomes before using the analysis to claim content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